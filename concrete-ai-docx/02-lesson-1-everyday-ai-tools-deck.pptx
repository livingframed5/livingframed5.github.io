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2" dt="2026-08-13T22:41:22.962"/>
    <p1510:client id="{53621643-79B2-5282-B06D-74F6D58D85CA}" v="15" dt="2026-08-14T17:33:33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00000"/>
            <a:ext cx="7772400" cy="1200000"/>
          </a:xfrm>
        </p:spPr>
        <p:txBody>
          <a:bodyPr rtlCol="0" anchor="ctr"/>
          <a:lstStyle>
            <a:lvl1pPr marL="0" indent="0" algn="ctr">
              <a:buNone/>
              <a:defRPr sz="4400" b="1" kern="1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0000"/>
            <a:ext cx="6400800" cy="700000"/>
          </a:xfrm>
        </p:spPr>
        <p:txBody>
          <a:bodyPr rtlCol="0" anchor="ctr"/>
          <a:lstStyle>
            <a:lvl1pPr marL="0" indent="0" algn="ctr">
              <a:buNone/>
              <a:defRPr sz="2200" b="0">
                <a:solidFill>
                  <a:srgbClr val="E88A1A"/>
                </a:solidFill>
              </a:defRPr>
            </a:lvl1pPr>
            <a:lvl2pPr marL="342900" indent="0" algn="ctr">
              <a:buNone/>
              <a:defRPr>
                <a:solidFill>
                  <a:srgbClr val="E88A1A"/>
                </a:solidFill>
              </a:defRPr>
            </a:lvl2pPr>
            <a:lvl3pPr marL="685800" indent="0" algn="ctr">
              <a:buNone/>
              <a:defRPr>
                <a:solidFill>
                  <a:srgbClr val="E88A1A"/>
                </a:solidFill>
              </a:defRPr>
            </a:lvl3pPr>
            <a:lvl4pPr marL="1028700" indent="0" algn="ctr">
              <a:buNone/>
              <a:defRPr>
                <a:solidFill>
                  <a:srgbClr val="E88A1A"/>
                </a:solidFill>
              </a:defRPr>
            </a:lvl4pPr>
            <a:lvl5pPr marL="1371600" indent="0" algn="ctr">
              <a:buNone/>
              <a:defRPr>
                <a:solidFill>
                  <a:srgbClr val="E88A1A"/>
                </a:solidFill>
              </a:defRPr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Band"/>
          <p:cNvSpPr/>
          <p:nvPr/>
        </p:nvSpPr>
        <p:spPr>
          <a:xfrm>
            <a:off x="0" y="0"/>
            <a:ext cx="9144000" cy="1200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AccentLine"/>
          <p:cNvSpPr/>
          <p:nvPr/>
        </p:nvSpPr>
        <p:spPr>
          <a:xfrm>
            <a:off x="0" y="1200000"/>
            <a:ext cx="9144000" cy="50000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randText"/>
          <p:cNvSpPr/>
          <p:nvPr/>
        </p:nvSpPr>
        <p:spPr>
          <a:xfrm>
            <a:off x="457200" y="4860000"/>
            <a:ext cx="3657600" cy="27384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100">
                <a:solidFill>
                  <a:srgbClr val="8A9096"/>
                </a:solidFill>
              </a:rPr>
              <a:t>AI for Concrete Contractors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spcAft>
          <a:spcPct val="0"/>
        </a:spcAft>
        <a:buNone/>
        <a:defRPr sz="3000" b="1" kern="8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4000"/>
        </a:spcBef>
        <a:buClr>
          <a:srgbClr val="E88A1A"/>
        </a:buClr>
        <a:buSzPct val="70000"/>
        <a:buFont typeface="Arial"/>
        <a:buChar char="â€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â€“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â€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â€“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Â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3CD3-F832-FF88-E764-522F5C2FF0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E88A1A"/>
                </a:solidFill>
                <a:latin typeface="Segoe UI" panose="020B0502040204020203" pitchFamily="34" charset="0"/>
              </a:rPr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77A42-1D57-197C-2CC3-FE68E68E6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Segoe UI" panose="020B0502040204020203" pitchFamily="34" charset="0"/>
              </a:rPr>
              <a:t>Everyday AI Tools (The Basics)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7A8E4-41F9-2BD1-542F-3DD271328757}"/>
              </a:ext>
            </a:extLst>
          </p:cNvPr>
          <p:cNvSpPr txBox="1"/>
          <p:nvPr/>
        </p:nvSpPr>
        <p:spPr>
          <a:xfrm>
            <a:off x="762000" y="5943600"/>
            <a:ext cx="7620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>
                <a:solidFill>
                  <a:srgbClr val="6C6E6B"/>
                </a:solidFill>
                <a:latin typeface="Segoe UI" panose="020B0502040204020203" pitchFamily="34" charset="0"/>
              </a:rPr>
              <a:t>~45 minutes  |  ChatGPT, Claude, Gemini or Copilot (free tiers are fine)</a:t>
            </a:r>
          </a:p>
        </p:txBody>
      </p:sp>
    </p:spTree>
    <p:extLst>
      <p:ext uri="{BB962C8B-B14F-4D97-AF65-F5344CB8AC3E}">
        <p14:creationId xmlns:p14="http://schemas.microsoft.com/office/powerpoint/2010/main" val="259597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44CF-77B5-0CC1-4604-22BA5720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Set up and use a chat AI tool from your phone or laptop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Write bids, emails, site notes and marketing copy in minutes using the 5-part prompt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Use AI to summarize long emails and meeting notes instead of reading twice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Turn a voice note into a clean document - even hands-free while driving between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8A996-321F-54D7-22F6-2B1ADFBD9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7157-9869-CBA4-0F1C-1ECF130E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 don't need to be a tech person - just a free account and a browser or app.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Pick one chat app and get good at it; the skill transfers, so switching later is easy.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DF36F-90BE-EB9C-AAEA-CDEB675D1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DA47C2-0D5F-ABC5-29EE-9457F5763727}"/>
              </a:ext>
            </a:extLst>
          </p:cNvPr>
          <p:cNvSpPr/>
          <p:nvPr/>
        </p:nvSpPr>
        <p:spPr>
          <a:xfrm>
            <a:off x="508000" y="2730500"/>
            <a:ext cx="1905000" cy="5334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4322B-0B4A-1E2C-C3AF-E97B1E3D5CD1}"/>
              </a:ext>
            </a:extLst>
          </p:cNvPr>
          <p:cNvSpPr txBox="1"/>
          <p:nvPr/>
        </p:nvSpPr>
        <p:spPr>
          <a:xfrm>
            <a:off x="635000" y="2806700"/>
            <a:ext cx="16510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ChatGPT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899FF-E9A4-F50F-4E0D-EC2299E86586}"/>
              </a:ext>
            </a:extLst>
          </p:cNvPr>
          <p:cNvSpPr txBox="1"/>
          <p:nvPr/>
        </p:nvSpPr>
        <p:spPr>
          <a:xfrm>
            <a:off x="2603500" y="2806700"/>
            <a:ext cx="6032500" cy="225703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All-around drafting, reasoning, file uploads - Free tier is plenty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36A604-46A8-D1CB-983E-543A6342F2F2}"/>
              </a:ext>
            </a:extLst>
          </p:cNvPr>
          <p:cNvSpPr/>
          <p:nvPr/>
        </p:nvSpPr>
        <p:spPr>
          <a:xfrm>
            <a:off x="508000" y="3365500"/>
            <a:ext cx="1905000" cy="5334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2B15F-1A7E-C537-1C1C-F46A05D4F64C}"/>
              </a:ext>
            </a:extLst>
          </p:cNvPr>
          <p:cNvSpPr txBox="1"/>
          <p:nvPr/>
        </p:nvSpPr>
        <p:spPr>
          <a:xfrm>
            <a:off x="635000" y="3441700"/>
            <a:ext cx="16510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Claude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30245-FBEA-E16E-8117-917F582562F1}"/>
              </a:ext>
            </a:extLst>
          </p:cNvPr>
          <p:cNvSpPr txBox="1"/>
          <p:nvPr/>
        </p:nvSpPr>
        <p:spPr>
          <a:xfrm>
            <a:off x="2603500" y="3441700"/>
            <a:ext cx="6032500" cy="225703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Long documents, careful answers - Free tier is plenty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11AC4C-6645-056F-256F-ADB2741EABBF}"/>
              </a:ext>
            </a:extLst>
          </p:cNvPr>
          <p:cNvSpPr/>
          <p:nvPr/>
        </p:nvSpPr>
        <p:spPr>
          <a:xfrm>
            <a:off x="508000" y="4000500"/>
            <a:ext cx="1905000" cy="5334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F83D89-29A4-29D7-5B8D-2641DA9A524B}"/>
              </a:ext>
            </a:extLst>
          </p:cNvPr>
          <p:cNvSpPr txBox="1"/>
          <p:nvPr/>
        </p:nvSpPr>
        <p:spPr>
          <a:xfrm>
            <a:off x="635000" y="4076700"/>
            <a:ext cx="16510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Google Gemini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13AF82-116B-071D-F720-B155C5B8E646}"/>
              </a:ext>
            </a:extLst>
          </p:cNvPr>
          <p:cNvSpPr txBox="1"/>
          <p:nvPr/>
        </p:nvSpPr>
        <p:spPr>
          <a:xfrm>
            <a:off x="2603500" y="4076700"/>
            <a:ext cx="6032500" cy="225703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Ties into Gmail/Google Docs, search smarts - Free tier is plenty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4F713A-817D-653C-A174-1BAEB30A8D01}"/>
              </a:ext>
            </a:extLst>
          </p:cNvPr>
          <p:cNvSpPr/>
          <p:nvPr/>
        </p:nvSpPr>
        <p:spPr>
          <a:xfrm>
            <a:off x="508000" y="4635500"/>
            <a:ext cx="1905000" cy="5334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212D2-BBD6-2278-B88F-E45E1958D7DA}"/>
              </a:ext>
            </a:extLst>
          </p:cNvPr>
          <p:cNvSpPr txBox="1"/>
          <p:nvPr/>
        </p:nvSpPr>
        <p:spPr>
          <a:xfrm>
            <a:off x="635000" y="4711700"/>
            <a:ext cx="16510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MS Copilot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CE690-8044-8E22-333A-905E4DB1EB7B}"/>
              </a:ext>
            </a:extLst>
          </p:cNvPr>
          <p:cNvSpPr txBox="1"/>
          <p:nvPr/>
        </p:nvSpPr>
        <p:spPr>
          <a:xfrm>
            <a:off x="2603500" y="4711700"/>
            <a:ext cx="6032500" cy="225703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Already inside Word and Outlook - Free / included</a:t>
            </a:r>
          </a:p>
        </p:txBody>
      </p:sp>
    </p:spTree>
    <p:extLst>
      <p:ext uri="{BB962C8B-B14F-4D97-AF65-F5344CB8AC3E}">
        <p14:creationId xmlns:p14="http://schemas.microsoft.com/office/powerpoint/2010/main" val="188307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A799-EE1E-8E67-AD86-0F1A5B85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My recommendation for a contractor: pick one chat app and get good at it.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Any of the three big ones works - the prompts are the same.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9863-468C-C026-0228-97393931F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B2EDF3-4CCD-EBA9-E4B4-607B9598523A}"/>
              </a:ext>
            </a:extLst>
          </p:cNvPr>
          <p:cNvSpPr/>
          <p:nvPr/>
        </p:nvSpPr>
        <p:spPr>
          <a:xfrm>
            <a:off x="762000" y="3810000"/>
            <a:ext cx="7620000" cy="1143000"/>
          </a:xfrm>
          <a:prstGeom prst="roundRect">
            <a:avLst/>
          </a:prstGeom>
          <a:solidFill>
            <a:srgbClr val="B8BEF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01C42-EB5E-7D2E-C848-A0F360BE6662}"/>
              </a:ext>
            </a:extLst>
          </p:cNvPr>
          <p:cNvSpPr txBox="1"/>
          <p:nvPr/>
        </p:nvSpPr>
        <p:spPr>
          <a:xfrm>
            <a:off x="914400" y="3911600"/>
            <a:ext cx="7340600" cy="456535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400">
                <a:solidFill>
                  <a:srgbClr val="1B3A4B"/>
                </a:solidFill>
                <a:latin typeface="Segoe UI" panose="020B0502040204020203" pitchFamily="34" charset="0"/>
              </a:rPr>
              <a:t>Tool note: tools update constantly and screenshots age fast. Don't chase versions - chase the method. Every tool here can do the tasks in this lesson today.</a:t>
            </a:r>
          </a:p>
        </p:txBody>
      </p:sp>
    </p:spTree>
    <p:extLst>
      <p:ext uri="{BB962C8B-B14F-4D97-AF65-F5344CB8AC3E}">
        <p14:creationId xmlns:p14="http://schemas.microsoft.com/office/powerpoint/2010/main" val="237411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D85-881F-C5A5-8DBE-80040B47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 learned this in Lesson 0. Here it is in action, three times, with real concrete jobs.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ROLE - who the AI should pretend to be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TASK - what you want it to do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CONTEXT - the facts it needs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FORMAT - how the answer should look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CHECK - how you will verify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C2F5B-3EE2-9205-F606-B41D82D54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9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9EC9-E818-354E-49E5-450B711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71B7-F379-FA3F-591D-3E1D0660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69DAC1-3F9F-BC64-25A3-091D61E33453}"/>
              </a:ext>
            </a:extLst>
          </p:cNvPr>
          <p:cNvSpPr/>
          <p:nvPr/>
        </p:nvSpPr>
        <p:spPr>
          <a:xfrm>
            <a:off x="762000" y="1397000"/>
            <a:ext cx="7620000" cy="3302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89E0BC-F620-E429-E421-8C30EF6E37C9}"/>
              </a:ext>
            </a:extLst>
          </p:cNvPr>
          <p:cNvSpPr/>
          <p:nvPr/>
        </p:nvSpPr>
        <p:spPr>
          <a:xfrm>
            <a:off x="762000" y="1397000"/>
            <a:ext cx="7620000" cy="76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3B928-41E7-C6BA-0E6B-09AFDBC93418}"/>
              </a:ext>
            </a:extLst>
          </p:cNvPr>
          <p:cNvSpPr txBox="1"/>
          <p:nvPr/>
        </p:nvSpPr>
        <p:spPr>
          <a:xfrm>
            <a:off x="914400" y="1625600"/>
            <a:ext cx="7340600" cy="102592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ROLE: "You are a bid writer for a residential concrete contractor." TASK: "Draft a short email to send this quote to the client." CONTEXT: "Driveway + front walk, 1,900 sq ft, broom finish, stamped border. Quote total $14,200. They're a homeowner who cares about on-time start and clean finish." FORMAT: "Three short paragraphs, warm but professional, sign it Mike, A+ Concrete." CHECK: "Tell me if I should include any dates or details you think are missing."</a:t>
            </a:r>
          </a:p>
        </p:txBody>
      </p:sp>
    </p:spTree>
    <p:extLst>
      <p:ext uri="{BB962C8B-B14F-4D97-AF65-F5344CB8AC3E}">
        <p14:creationId xmlns:p14="http://schemas.microsoft.com/office/powerpoint/2010/main" val="63738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E86C-F940-884D-CB10-9D2CD2DF6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7A60-F07D-41F7-6D6E-5A2BBAE0A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92787F-3180-0102-F4B2-6FE36FE2D535}"/>
              </a:ext>
            </a:extLst>
          </p:cNvPr>
          <p:cNvSpPr/>
          <p:nvPr/>
        </p:nvSpPr>
        <p:spPr>
          <a:xfrm>
            <a:off x="762000" y="1397000"/>
            <a:ext cx="7620000" cy="2921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ADC935-2BEA-EA80-ABB0-5CFE7459892E}"/>
              </a:ext>
            </a:extLst>
          </p:cNvPr>
          <p:cNvSpPr/>
          <p:nvPr/>
        </p:nvSpPr>
        <p:spPr>
          <a:xfrm>
            <a:off x="762000" y="1397000"/>
            <a:ext cx="7620000" cy="76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E7744-7F1D-4825-1E95-80B90701D098}"/>
              </a:ext>
            </a:extLst>
          </p:cNvPr>
          <p:cNvSpPr txBox="1"/>
          <p:nvPr/>
        </p:nvSpPr>
        <p:spPr>
          <a:xfrm>
            <a:off x="914400" y="1625600"/>
            <a:ext cx="7340600" cy="102592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ROLE: "You are a construction office manager." TASK: "Draft a polite email telling a client their patio pour is delayed one week due to rain." CONTEXT: "Job was scheduled for Thursday; forecast is heavy rain Wed-Thu; we'll pour Monday if weather holds. We reschedule, never cancel. Client was already anxious about timing." FORMAT: "Short, apologetic but confident, give the new date and a phone number." CHECK: "Keep it under 90 words."</a:t>
            </a:r>
          </a:p>
        </p:txBody>
      </p:sp>
    </p:spTree>
    <p:extLst>
      <p:ext uri="{BB962C8B-B14F-4D97-AF65-F5344CB8AC3E}">
        <p14:creationId xmlns:p14="http://schemas.microsoft.com/office/powerpoint/2010/main" val="182431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BA9E-E85F-ED27-DBAE-AA3E576A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25A0-03C8-CE14-CDDA-088415356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4F3858-6E4E-77EB-355C-18676E408FA2}"/>
              </a:ext>
            </a:extLst>
          </p:cNvPr>
          <p:cNvSpPr/>
          <p:nvPr/>
        </p:nvSpPr>
        <p:spPr>
          <a:xfrm>
            <a:off x="762000" y="1397000"/>
            <a:ext cx="7620000" cy="3175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F926CF-9848-451B-2C7C-76F75353CD33}"/>
              </a:ext>
            </a:extLst>
          </p:cNvPr>
          <p:cNvSpPr/>
          <p:nvPr/>
        </p:nvSpPr>
        <p:spPr>
          <a:xfrm>
            <a:off x="762000" y="1397000"/>
            <a:ext cx="7620000" cy="76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5DB1F-5FC0-FFE8-EF95-57C45F7787E1}"/>
              </a:ext>
            </a:extLst>
          </p:cNvPr>
          <p:cNvSpPr txBox="1"/>
          <p:nvPr/>
        </p:nvSpPr>
        <p:spPr>
          <a:xfrm>
            <a:off x="914400" y="1625600"/>
            <a:ext cx="7340600" cy="102592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ROLE: "You are a project note-taker." TASK: "Turn my messy field notes into a clean job log." CONTEXT: "Here are my notes: [paste your notes]. Job = Henderson foundation, 8-11am, crew 4, rebar in place, inspector due Friday, one truck late 40 min, need extra 2 yds of 4000 mix." FORMAT: "A dated log with sections: What happened / Crew / Materials / Issues / Next steps." CHECK: "Ask me anything that's unclear instead of guessing."</a:t>
            </a:r>
          </a:p>
        </p:txBody>
      </p:sp>
    </p:spTree>
    <p:extLst>
      <p:ext uri="{BB962C8B-B14F-4D97-AF65-F5344CB8AC3E}">
        <p14:creationId xmlns:p14="http://schemas.microsoft.com/office/powerpoint/2010/main" val="196977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D220-35A2-481B-9B7A-9EC1F6FA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AI's single best everyday trick: paste it in, get the short version.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Paste emails, RFPs, spec excerpts, scope letters - even upload a PDF or Word file.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Always ask it to flag action items and dates - that's where you get your day back.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1144-8FD9-EC0D-2801-C3D2C61F6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3396E2-064F-508C-A487-25692DD629B7}"/>
              </a:ext>
            </a:extLst>
          </p:cNvPr>
          <p:cNvSpPr/>
          <p:nvPr/>
        </p:nvSpPr>
        <p:spPr>
          <a:xfrm>
            <a:off x="762000" y="4191000"/>
            <a:ext cx="7620000" cy="762000"/>
          </a:xfrm>
          <a:prstGeom prst="roundRect">
            <a:avLst/>
          </a:prstGeom>
          <a:solidFill>
            <a:srgbClr val="B8BEF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CDF15-EECA-65AA-C5E3-B22240250CC0}"/>
              </a:ext>
            </a:extLst>
          </p:cNvPr>
          <p:cNvSpPr txBox="1"/>
          <p:nvPr/>
        </p:nvSpPr>
        <p:spPr>
          <a:xfrm>
            <a:off x="914400" y="4292600"/>
            <a:ext cx="7340600" cy="425758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Summarize this in 4 bullet points: what's being asked, any deadlines, any costs, and anything that needs my action. If a number is missing, write MISSING in its place. Use plain English.</a:t>
            </a:r>
          </a:p>
        </p:txBody>
      </p:sp>
    </p:spTree>
    <p:extLst>
      <p:ext uri="{BB962C8B-B14F-4D97-AF65-F5344CB8AC3E}">
        <p14:creationId xmlns:p14="http://schemas.microsoft.com/office/powerpoint/2010/main" val="190497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E95A-F5ED-5B8B-6E0A-B2C29E06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Concrete work is local. AI turns one good job photo + a few facts into a post.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Repeat for Google Business, before/after posts, even a short ad. One job = a month of posts.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C1CF1-C88F-3D92-56A2-E851109B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4B43D7-9687-412D-CDB5-1AB980DED3A7}"/>
              </a:ext>
            </a:extLst>
          </p:cNvPr>
          <p:cNvSpPr/>
          <p:nvPr/>
        </p:nvSpPr>
        <p:spPr>
          <a:xfrm>
            <a:off x="762000" y="3810000"/>
            <a:ext cx="7620000" cy="1206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AC427C-0A25-D6D2-0F4E-F10AB05B1C3D}"/>
              </a:ext>
            </a:extLst>
          </p:cNvPr>
          <p:cNvSpPr/>
          <p:nvPr/>
        </p:nvSpPr>
        <p:spPr>
          <a:xfrm>
            <a:off x="762000" y="3810000"/>
            <a:ext cx="7620000" cy="76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9AAAC-4B82-9174-7120-237877AAC0BC}"/>
              </a:ext>
            </a:extLst>
          </p:cNvPr>
          <p:cNvSpPr txBox="1"/>
          <p:nvPr/>
        </p:nvSpPr>
        <p:spPr>
          <a:xfrm>
            <a:off x="914400" y="3962400"/>
            <a:ext cx="7340600" cy="825867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You are a social media writer for a concrete contractor. Write a Facebook post about this job: stamped concrete patio, 1,100 sq ft, new homeowner, finished last week. Include the contractor's name (Lakeview Concrete). Tone: friendly, local, proud of the work. End with Call for a free quote and a phone number placeholder. Keep it under 120 words.</a:t>
            </a:r>
          </a:p>
        </p:txBody>
      </p:sp>
    </p:spTree>
    <p:extLst>
      <p:ext uri="{BB962C8B-B14F-4D97-AF65-F5344CB8AC3E}">
        <p14:creationId xmlns:p14="http://schemas.microsoft.com/office/powerpoint/2010/main" val="193782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00FF-EB01-8453-4737-A3126F90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Use your phone's voice feature to dictate hands-free while driving or walking a site.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Then have AI clean it up - one habit saves most contractors 2-3 hours a week.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23AD-C6F0-A800-0B4C-545DD4AFC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A08D13-110C-45E4-7898-38EA3E95C8A0}"/>
              </a:ext>
            </a:extLst>
          </p:cNvPr>
          <p:cNvSpPr/>
          <p:nvPr/>
        </p:nvSpPr>
        <p:spPr>
          <a:xfrm>
            <a:off x="762000" y="4064000"/>
            <a:ext cx="7620000" cy="825500"/>
          </a:xfrm>
          <a:prstGeom prst="roundRect">
            <a:avLst/>
          </a:prstGeom>
          <a:solidFill>
            <a:srgbClr val="B8BEF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08E8C-3C58-C9A3-7F65-F0EA02D02A76}"/>
              </a:ext>
            </a:extLst>
          </p:cNvPr>
          <p:cNvSpPr txBox="1"/>
          <p:nvPr/>
        </p:nvSpPr>
        <p:spPr>
          <a:xfrm>
            <a:off x="914400" y="4165600"/>
            <a:ext cx="7340600" cy="425758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Turn this voice note into a tidy email to the GC: [dictated text]. Keep my meaning, fix the grammar, keep it short.</a:t>
            </a:r>
          </a:p>
        </p:txBody>
      </p:sp>
    </p:spTree>
    <p:extLst>
      <p:ext uri="{BB962C8B-B14F-4D97-AF65-F5344CB8AC3E}">
        <p14:creationId xmlns:p14="http://schemas.microsoft.com/office/powerpoint/2010/main" val="410017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B9D9-DF91-B201-2CA7-7380FDEA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Open your chosen AI tool.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Write ONE email your business needs this week - a bid cover, delay notice, or follow-up - using the 5-part prompt.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Read the draft. Change anything that's wrong or that doesn't sound like you.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Save your 5-part prompt somewhere (Notes app is fine) - you'll reuse 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55B7-BB81-8C75-0791-A07010E6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8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F2D87-437B-B037-4BEA-415468A1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 have one AI app installed and logged in on your phone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You've written at least one real work email with the 5-part prompt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You've summarized one long email or chain with AI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You've turned one set of notes or a voice memo into a clean document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You've posted (or drafted) one marketing piece with AI's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6DC2-3335-68E3-DCC9-1F420DB01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13F4-E85E-047C-12EB-DC8304E5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5B351-6530-250A-FF67-1956556D0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066F93-AB73-E37C-46DF-5FFF42BD1FB7}"/>
              </a:ext>
            </a:extLst>
          </p:cNvPr>
          <p:cNvSpPr/>
          <p:nvPr/>
        </p:nvSpPr>
        <p:spPr>
          <a:xfrm>
            <a:off x="762000" y="1524000"/>
            <a:ext cx="7620000" cy="3048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D4BA9-64DD-5480-C40A-8968B9B254EE}"/>
              </a:ext>
            </a:extLst>
          </p:cNvPr>
          <p:cNvSpPr txBox="1"/>
          <p:nvPr/>
        </p:nvSpPr>
        <p:spPr>
          <a:xfrm>
            <a:off x="990600" y="1714500"/>
            <a:ext cx="7162800" cy="425758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EMAIL    ROLE: bid writer/office manager. TASK: draft email. CONTEXT: facts + tone. FORMAT: short. CHECK: missing details.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1BF66-2F9C-B66B-ED53-021D616B54DE}"/>
              </a:ext>
            </a:extLst>
          </p:cNvPr>
          <p:cNvSpPr txBox="1"/>
          <p:nvPr/>
        </p:nvSpPr>
        <p:spPr>
          <a:xfrm>
            <a:off x="990600" y="2247900"/>
            <a:ext cx="7162800" cy="425758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SUMMARY  Summarize in bullets: what is asked, deadlines, costs, my action items. Mark MISSING for missing numbers.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4CF2A-18DA-8B73-1092-73F3BD4EB135}"/>
              </a:ext>
            </a:extLst>
          </p:cNvPr>
          <p:cNvSpPr txBox="1"/>
          <p:nvPr/>
        </p:nvSpPr>
        <p:spPr>
          <a:xfrm>
            <a:off x="990600" y="2781300"/>
            <a:ext cx="7162800" cy="425758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SITE NOTES  Turn my notes into a dated job log: What happened / Crew / Materials / Issues / Next steps.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8BD18-66B3-5E42-22AF-1BE5647599C4}"/>
              </a:ext>
            </a:extLst>
          </p:cNvPr>
          <p:cNvSpPr txBox="1"/>
          <p:nvPr/>
        </p:nvSpPr>
        <p:spPr>
          <a:xfrm>
            <a:off x="990600" y="3314700"/>
            <a:ext cx="7162800" cy="225703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SOCIAL  Write a Facebook post about [job]. Tone: local and proud. End with a call-to-action.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AEC55-CB12-8FC9-9274-1A9D9240FCF3}"/>
              </a:ext>
            </a:extLst>
          </p:cNvPr>
          <p:cNvSpPr txBox="1"/>
          <p:nvPr/>
        </p:nvSpPr>
        <p:spPr>
          <a:xfrm>
            <a:off x="990600" y="3848100"/>
            <a:ext cx="7162800" cy="225703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VOICE  Clean up this voice note into a short professional email: [transcript].</a:t>
            </a:r>
          </a:p>
        </p:txBody>
      </p:sp>
    </p:spTree>
    <p:extLst>
      <p:ext uri="{BB962C8B-B14F-4D97-AF65-F5344CB8AC3E}">
        <p14:creationId xmlns:p14="http://schemas.microsoft.com/office/powerpoint/2010/main" val="331613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3A4B"/>
      </a:dk2>
      <a:lt2>
        <a:srgbClr val="F5F3EF"/>
      </a:lt2>
      <a:accent1>
        <a:srgbClr val="E88A1A"/>
      </a:accent1>
      <a:accent2>
        <a:srgbClr val="4F7CAC"/>
      </a:accent2>
      <a:accent3>
        <a:srgbClr val="5D8A68"/>
      </a:accent3>
      <a:accent4>
        <a:srgbClr val="9B6B43"/>
      </a:accent4>
      <a:accent5>
        <a:srgbClr val="7A8B9A"/>
      </a:accent5>
      <a:accent6>
        <a:srgbClr val="C2563E"/>
      </a:accent6>
      <a:hlink>
        <a:srgbClr val="1B3A4B"/>
      </a:hlink>
      <a:folHlink>
        <a:srgbClr val="7A8B9A"/>
      </a:folHlink>
    </a:clrScheme>
    <a:fontScheme name="Office">
      <a:majorFont>
        <a:latin typeface="Segoe UI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Office PowerPoint</Application>
  <PresentationFormat>On-screen Show (16:9)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Lesson 1</vt:lpstr>
      <vt:lpstr>Set up and use a chat AI tool from your phone or laptop Write bids, emails, site notes and marketing copy in minutes using the 5-part prompt Use AI to summarize long emails and meeting notes instead of reading twice Turn a voice note into a clean document - even hands-free while driving between jobs</vt:lpstr>
      <vt:lpstr>You don't need to be a tech person - just a free account and a browser or app. Pick one chat app and get good at it; the skill transfers, so switching later is easy.</vt:lpstr>
      <vt:lpstr>My recommendation for a contractor: pick one chat app and get good at it. Any of the three big ones works - the prompts are the same.</vt:lpstr>
      <vt:lpstr>You learned this in Lesson 0. Here it is in action, three times, with real concrete jobs. ROLE - who the AI should pretend to be TASK - what you want it to do CONTEXT - the facts it needs FORMAT - how the answer should look CHECK - how you will verify the work</vt:lpstr>
      <vt:lpstr>PowerPoint Presentation</vt:lpstr>
      <vt:lpstr>PowerPoint Presentation</vt:lpstr>
      <vt:lpstr>PowerPoint Presentation</vt:lpstr>
      <vt:lpstr>AI's single best everyday trick: paste it in, get the short version. Paste emails, RFPs, spec excerpts, scope letters - even upload a PDF or Word file. Always ask it to flag action items and dates - that's where you get your day back.</vt:lpstr>
      <vt:lpstr>Concrete work is local. AI turns one good job photo + a few facts into a post. Repeat for Google Business, before/after posts, even a short ad. One job = a month of posts.</vt:lpstr>
      <vt:lpstr>Use your phone's voice feature to dictate hands-free while driving or walking a site. Then have AI clean it up - one habit saves most contractors 2-3 hours a week.</vt:lpstr>
      <vt:lpstr>Open your chosen AI tool. Write ONE email your business needs this week - a bid cover, delay notice, or follow-up - using the 5-part prompt. Read the draft. Change anything that's wrong or that doesn't sound like you. Save your 5-part prompt somewhere (Notes app is fine) - you'll reuse it.</vt:lpstr>
      <vt:lpstr>You have one AI app installed and logged in on your phone You've written at least one real work email with the 5-part prompt You've summarized one long email or chain with AI You've turned one set of notes or a voice memo into a clean document You've posted (or drafted) one marketing piece with AI's help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Concrete Contractors</dc:title>
  <dc:creator/>
  <cp:keywords/>
  <cp:lastModifiedBy>Whitney Smith</cp:lastModifiedBy>
  <cp:revision>11</cp:revision>
  <dcterms:created xsi:type="dcterms:W3CDTF">2026-08-13T19:32:12Z</dcterms:created>
  <dcterms:modified xsi:type="dcterms:W3CDTF">2026-08-24T22:53:43Z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Welcome Lesson</vt:lpwstr>
  </property>
</Properties>
</file>