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2" dt="2026-08-13T22:41:22.962"/>
    <p1510:client id="{53621643-79B2-5282-B06D-74F6D58D85CA}" v="15" dt="2026-08-14T17:33:33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00000"/>
            <a:ext cx="7772400" cy="1200000"/>
          </a:xfrm>
        </p:spPr>
        <p:txBody>
          <a:bodyPr rtlCol="0" anchor="ctr"/>
          <a:lstStyle>
            <a:lvl1pPr marL="0" indent="0" algn="ctr">
              <a:buNone/>
              <a:defRPr sz="4400" b="1" kern="1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0000"/>
            <a:ext cx="6400800" cy="700000"/>
          </a:xfrm>
        </p:spPr>
        <p:txBody>
          <a:bodyPr rtlCol="0" anchor="ctr"/>
          <a:lstStyle>
            <a:lvl1pPr marL="0" indent="0" algn="ctr">
              <a:buNone/>
              <a:defRPr sz="2200" b="0">
                <a:solidFill>
                  <a:srgbClr val="E88A1A"/>
                </a:solidFill>
              </a:defRPr>
            </a:lvl1pPr>
            <a:lvl2pPr marL="342900" indent="0" algn="ctr">
              <a:buNone/>
              <a:defRPr>
                <a:solidFill>
                  <a:srgbClr val="E88A1A"/>
                </a:solidFill>
              </a:defRPr>
            </a:lvl2pPr>
            <a:lvl3pPr marL="685800" indent="0" algn="ctr">
              <a:buNone/>
              <a:defRPr>
                <a:solidFill>
                  <a:srgbClr val="E88A1A"/>
                </a:solidFill>
              </a:defRPr>
            </a:lvl3pPr>
            <a:lvl4pPr marL="1028700" indent="0" algn="ctr">
              <a:buNone/>
              <a:defRPr>
                <a:solidFill>
                  <a:srgbClr val="E88A1A"/>
                </a:solidFill>
              </a:defRPr>
            </a:lvl4pPr>
            <a:lvl5pPr marL="1371600" indent="0" algn="ctr">
              <a:buNone/>
              <a:defRPr>
                <a:solidFill>
                  <a:srgbClr val="E88A1A"/>
                </a:solidFill>
              </a:defRPr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Band"/>
          <p:cNvSpPr/>
          <p:nvPr/>
        </p:nvSpPr>
        <p:spPr>
          <a:xfrm>
            <a:off x="0" y="0"/>
            <a:ext cx="9144000" cy="1200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AccentLine"/>
          <p:cNvSpPr/>
          <p:nvPr/>
        </p:nvSpPr>
        <p:spPr>
          <a:xfrm>
            <a:off x="0" y="1200000"/>
            <a:ext cx="9144000" cy="5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randText"/>
          <p:cNvSpPr/>
          <p:nvPr/>
        </p:nvSpPr>
        <p:spPr>
          <a:xfrm>
            <a:off x="457200" y="4860000"/>
            <a:ext cx="3657600" cy="27384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100">
                <a:solidFill>
                  <a:srgbClr val="8A9096"/>
                </a:solidFill>
              </a:rPr>
              <a:t>AI for Concrete Contractors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spcAft>
          <a:spcPct val="0"/>
        </a:spcAft>
        <a:buNone/>
        <a:defRPr sz="3000" b="1" kern="8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4000"/>
        </a:spcBef>
        <a:buClr>
          <a:srgbClr val="E88A1A"/>
        </a:buClr>
        <a:buSzPct val="70000"/>
        <a:buFont typeface="Arial"/>
        <a:buChar char="â€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â€“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â€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â€“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Â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â€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25C6-FBD6-97DF-2060-1942A1D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E88A1A"/>
                </a:solidFill>
                <a:latin typeface="Segoe UI" panose="020B0502040204020203" pitchFamily="34" charset="0"/>
              </a:rPr>
              <a:t>Lesson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6C5A7-9D5D-A988-B531-B29CFCA10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Segoe UI" panose="020B0502040204020203" pitchFamily="34" charset="0"/>
              </a:rPr>
              <a:t>Welcome &amp; How to Use This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5BDE3-7BDD-38A6-3A9C-DE712E24D9CF}"/>
              </a:ext>
            </a:extLst>
          </p:cNvPr>
          <p:cNvSpPr txBox="1"/>
          <p:nvPr/>
        </p:nvSpPr>
        <p:spPr>
          <a:xfrm>
            <a:off x="762000" y="5943600"/>
            <a:ext cx="7620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>
                <a:solidFill>
                  <a:srgbClr val="6C6E6B"/>
                </a:solidFill>
                <a:latin typeface="Segoe UI" panose="020B0502040204020203" pitchFamily="34" charset="0"/>
              </a:rPr>
              <a:t>About 10 minutes  |  Nothing to install - just read</a:t>
            </a:r>
          </a:p>
        </p:txBody>
      </p:sp>
    </p:spTree>
    <p:extLst>
      <p:ext uri="{BB962C8B-B14F-4D97-AF65-F5344CB8AC3E}">
        <p14:creationId xmlns:p14="http://schemas.microsoft.com/office/powerpoint/2010/main" val="146840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CC38-5BBE-DD61-F668-6794E2E7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What AI is, in 30 seconds - without the hype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What AI is genuinely good at (and bad at) for a concrete business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The one skill you'll reuse in every other lesson of this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4210-1C5E-8DFF-2B6D-BE6E2E6C0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4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22B1-0AD1-7E36-9D90-AA88C8F0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ChatGPT, Claude and Google Gemini are autocomplete engines on steroids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They've read a huge amount of text and learned to predict a useful response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Give them a clear task and they generate a strong draft back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They're not thinking - they produce the most-likely-useful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AC4A7-0769-EB62-3F74-E2BC7447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18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7BCC-3B37-5943-45CC-C1DEAF71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Fast - a draft bid email in 15 seconds, not 20 minutes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Helpful at starting - the hardest part of any document is the blank page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Wrong sometimes - confident-sounding mistakes (that's why Lesson 5 exists)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57FA-ADF0-2425-E248-6DDE284F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1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1FB6-B8D0-C89E-C587-F46462D0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12E8F-628B-56B0-2897-9606DB5A4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0DA38E-815E-B147-3B49-4F959E1D31E0}"/>
              </a:ext>
            </a:extLst>
          </p:cNvPr>
          <p:cNvSpPr/>
          <p:nvPr/>
        </p:nvSpPr>
        <p:spPr>
          <a:xfrm>
            <a:off x="508000" y="1371600"/>
            <a:ext cx="3873500" cy="3454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A969DA-BEFE-F18E-69C6-7316CE0540B8}"/>
              </a:ext>
            </a:extLst>
          </p:cNvPr>
          <p:cNvSpPr/>
          <p:nvPr/>
        </p:nvSpPr>
        <p:spPr>
          <a:xfrm>
            <a:off x="508000" y="1371600"/>
            <a:ext cx="3873500" cy="508000"/>
          </a:xfrm>
          <a:prstGeom prst="roundRect">
            <a:avLst/>
          </a:prstGeom>
          <a:solidFill>
            <a:srgbClr val="5D8A6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24676-62F6-9771-6719-14779BDFC7BC}"/>
              </a:ext>
            </a:extLst>
          </p:cNvPr>
          <p:cNvSpPr txBox="1"/>
          <p:nvPr/>
        </p:nvSpPr>
        <p:spPr>
          <a:xfrm>
            <a:off x="685800" y="1435100"/>
            <a:ext cx="35306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AI is genuinely good 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EECF1-10A0-A638-45F8-F95C643F09A6}"/>
              </a:ext>
            </a:extLst>
          </p:cNvPr>
          <p:cNvSpPr txBox="1"/>
          <p:nvPr/>
        </p:nvSpPr>
        <p:spPr>
          <a:xfrm>
            <a:off x="685800" y="1981200"/>
            <a:ext cx="3530600" cy="1892826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Drafting text: bids, emails, marketing, job descriptions
Summarizing notes, emails, specs, long docs
First-draft estimates &amp; rough quantities from your inputs
Explaining contracts &amp; codes in plain English
Brainstorming options
Converting notes into clean documents
Standardizing - the same format every 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94C914-907A-B96D-ED9A-0FB9765E05B4}"/>
              </a:ext>
            </a:extLst>
          </p:cNvPr>
          <p:cNvSpPr/>
          <p:nvPr/>
        </p:nvSpPr>
        <p:spPr>
          <a:xfrm>
            <a:off x="4762500" y="1371600"/>
            <a:ext cx="3873500" cy="3454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232BC2-2DB5-8147-C8BD-ED9577A1508A}"/>
              </a:ext>
            </a:extLst>
          </p:cNvPr>
          <p:cNvSpPr/>
          <p:nvPr/>
        </p:nvSpPr>
        <p:spPr>
          <a:xfrm>
            <a:off x="4762500" y="1371600"/>
            <a:ext cx="3873500" cy="5080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BB01E-1860-8986-8F73-DDA6893B9545}"/>
              </a:ext>
            </a:extLst>
          </p:cNvPr>
          <p:cNvSpPr txBox="1"/>
          <p:nvPr/>
        </p:nvSpPr>
        <p:spPr>
          <a:xfrm>
            <a:off x="4940300" y="1435100"/>
            <a:ext cx="35306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AI is NOT good 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D3129-9F5F-91E1-0C37-8890418F1D6F}"/>
              </a:ext>
            </a:extLst>
          </p:cNvPr>
          <p:cNvSpPr txBox="1"/>
          <p:nvPr/>
        </p:nvSpPr>
        <p:spPr>
          <a:xfrm>
            <a:off x="4940300" y="1981200"/>
            <a:ext cx="3530600" cy="1892826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Making final decisions - you're still the boss
Getting real numbers right without you checking
Estimating from a photo without calibration
Current, exact, local facts (prices, permits, weather)
Judging a human being
Working with no information - garbage in, garbage out
Replacing your experience and your license</a:t>
            </a:r>
          </a:p>
        </p:txBody>
      </p:sp>
    </p:spTree>
    <p:extLst>
      <p:ext uri="{BB962C8B-B14F-4D97-AF65-F5344CB8AC3E}">
        <p14:creationId xmlns:p14="http://schemas.microsoft.com/office/powerpoint/2010/main" val="278382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022C-A3BF-E70A-3F87-025D3D1E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AB44-DD29-8EA7-3D6F-6C12B875A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D6AD3C-D422-CFCE-961A-8993BFADFC18}"/>
              </a:ext>
            </a:extLst>
          </p:cNvPr>
          <p:cNvSpPr/>
          <p:nvPr/>
        </p:nvSpPr>
        <p:spPr>
          <a:xfrm>
            <a:off x="1397000" y="1905000"/>
            <a:ext cx="6350000" cy="114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A7BA7B-A61C-08C0-5821-CA512C840EE8}"/>
              </a:ext>
            </a:extLst>
          </p:cNvPr>
          <p:cNvSpPr/>
          <p:nvPr/>
        </p:nvSpPr>
        <p:spPr>
          <a:xfrm>
            <a:off x="1397000" y="3048000"/>
            <a:ext cx="6350000" cy="76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6D296-0D6A-8E74-5883-F4F83F4855B0}"/>
              </a:ext>
            </a:extLst>
          </p:cNvPr>
          <p:cNvSpPr txBox="1"/>
          <p:nvPr/>
        </p:nvSpPr>
        <p:spPr>
          <a:xfrm>
            <a:off x="1524000" y="2095500"/>
            <a:ext cx="6096000" cy="518091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3200" b="1">
                <a:solidFill>
                  <a:srgbClr val="1B3A4B"/>
                </a:solidFill>
                <a:latin typeface="Segoe UI" panose="020B0502040204020203" pitchFamily="34" charset="0"/>
              </a:rPr>
              <a:t>AI drafts, you decide.</a:t>
            </a:r>
          </a:p>
        </p:txBody>
      </p:sp>
    </p:spTree>
    <p:extLst>
      <p:ext uri="{BB962C8B-B14F-4D97-AF65-F5344CB8AC3E}">
        <p14:creationId xmlns:p14="http://schemas.microsoft.com/office/powerpoint/2010/main" val="335051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52BB-F764-4007-1220-A367EEB4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Every prompt in every lesson follows the same five-part pattern: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ROLE - who the AI should pretend to be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TASK - what you want it to do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CONTEXT - the facts it needs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FORMAT - how the answer should look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CHECK - how you'll verify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809D4-8FF3-7E19-AC2E-04F56142D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5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20D1-EC4C-A66E-2CFC-61B71D12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908C-737D-BCB3-3DFD-DEE2B74F5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1F5C6F-AE1F-0A2E-19DF-16885C12102A}"/>
              </a:ext>
            </a:extLst>
          </p:cNvPr>
          <p:cNvSpPr/>
          <p:nvPr/>
        </p:nvSpPr>
        <p:spPr>
          <a:xfrm>
            <a:off x="508000" y="1422400"/>
            <a:ext cx="1651000" cy="584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42841-57BC-5088-6762-DA56AB1F78D8}"/>
              </a:ext>
            </a:extLst>
          </p:cNvPr>
          <p:cNvSpPr txBox="1"/>
          <p:nvPr/>
        </p:nvSpPr>
        <p:spPr>
          <a:xfrm>
            <a:off x="635000" y="1524000"/>
            <a:ext cx="1397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ROLE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4A37B-46EB-1789-0F4C-406F0DC465B2}"/>
              </a:ext>
            </a:extLst>
          </p:cNvPr>
          <p:cNvSpPr txBox="1"/>
          <p:nvPr/>
        </p:nvSpPr>
        <p:spPr>
          <a:xfrm>
            <a:off x="2349500" y="1524000"/>
            <a:ext cx="62865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>
                <a:solidFill>
                  <a:srgbClr val="1B3A4B"/>
                </a:solidFill>
                <a:latin typeface="Segoe UI" panose="020B0502040204020203" pitchFamily="34" charset="0"/>
              </a:rPr>
              <a:t>You are an experienced concrete estimator.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31DF04-B046-1D6B-9CE7-1E026E84ACF2}"/>
              </a:ext>
            </a:extLst>
          </p:cNvPr>
          <p:cNvSpPr/>
          <p:nvPr/>
        </p:nvSpPr>
        <p:spPr>
          <a:xfrm>
            <a:off x="508000" y="2133600"/>
            <a:ext cx="1651000" cy="584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C6C5B-74D4-916A-EEA9-5F7FCA05856A}"/>
              </a:ext>
            </a:extLst>
          </p:cNvPr>
          <p:cNvSpPr txBox="1"/>
          <p:nvPr/>
        </p:nvSpPr>
        <p:spPr>
          <a:xfrm>
            <a:off x="635000" y="2235200"/>
            <a:ext cx="1397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TASK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00C1C-97FB-94FD-86A1-8D5F46963F29}"/>
              </a:ext>
            </a:extLst>
          </p:cNvPr>
          <p:cNvSpPr txBox="1"/>
          <p:nvPr/>
        </p:nvSpPr>
        <p:spPr>
          <a:xfrm>
            <a:off x="2349500" y="2235200"/>
            <a:ext cx="62865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>
                <a:solidFill>
                  <a:srgbClr val="1B3A4B"/>
                </a:solidFill>
                <a:latin typeface="Segoe UI" panose="020B0502040204020203" pitchFamily="34" charset="0"/>
              </a:rPr>
              <a:t>Create a first-draft material list for this job.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31CC8A-BEE0-517E-4B2A-CA0EC8471A19}"/>
              </a:ext>
            </a:extLst>
          </p:cNvPr>
          <p:cNvSpPr/>
          <p:nvPr/>
        </p:nvSpPr>
        <p:spPr>
          <a:xfrm>
            <a:off x="508000" y="2844800"/>
            <a:ext cx="1651000" cy="584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1B7E8-818E-CE8D-2C3F-3B54171167EC}"/>
              </a:ext>
            </a:extLst>
          </p:cNvPr>
          <p:cNvSpPr txBox="1"/>
          <p:nvPr/>
        </p:nvSpPr>
        <p:spPr>
          <a:xfrm>
            <a:off x="635000" y="2946400"/>
            <a:ext cx="1397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4085B-3B7C-FA19-4D05-8FF8F09C672B}"/>
              </a:ext>
            </a:extLst>
          </p:cNvPr>
          <p:cNvSpPr txBox="1"/>
          <p:nvPr/>
        </p:nvSpPr>
        <p:spPr>
          <a:xfrm>
            <a:off x="2349500" y="2946400"/>
            <a:ext cx="62865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>
                <a:solidFill>
                  <a:srgbClr val="1B3A4B"/>
                </a:solidFill>
                <a:latin typeface="Segoe UI" panose="020B0502040204020203" pitchFamily="34" charset="0"/>
              </a:rPr>
              <a:t>6,000 sq ft, 4-in. slab, rebar at 18-in. centers, 4,000 psi.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32B795-65BB-C365-70FA-1A00C6DC5120}"/>
              </a:ext>
            </a:extLst>
          </p:cNvPr>
          <p:cNvSpPr/>
          <p:nvPr/>
        </p:nvSpPr>
        <p:spPr>
          <a:xfrm>
            <a:off x="508000" y="3556000"/>
            <a:ext cx="1651000" cy="584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FCAC9-FBA3-AA6D-881A-3219511E4028}"/>
              </a:ext>
            </a:extLst>
          </p:cNvPr>
          <p:cNvSpPr txBox="1"/>
          <p:nvPr/>
        </p:nvSpPr>
        <p:spPr>
          <a:xfrm>
            <a:off x="635000" y="3657600"/>
            <a:ext cx="1397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FORMAT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1D95E-997D-A6AE-9E4F-D79AC16DD2DF}"/>
              </a:ext>
            </a:extLst>
          </p:cNvPr>
          <p:cNvSpPr txBox="1"/>
          <p:nvPr/>
        </p:nvSpPr>
        <p:spPr>
          <a:xfrm>
            <a:off x="2349500" y="3657600"/>
            <a:ext cx="62865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>
                <a:solidFill>
                  <a:srgbClr val="1B3A4B"/>
                </a:solidFill>
                <a:latin typeface="Segoe UI" panose="020B0502040204020203" pitchFamily="34" charset="0"/>
              </a:rPr>
              <a:t>Return a table with item, quantity, unit.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3FCC2F-8D8F-4AFD-A763-ABD7E3239B12}"/>
              </a:ext>
            </a:extLst>
          </p:cNvPr>
          <p:cNvSpPr/>
          <p:nvPr/>
        </p:nvSpPr>
        <p:spPr>
          <a:xfrm>
            <a:off x="508000" y="4267200"/>
            <a:ext cx="1651000" cy="584200"/>
          </a:xfrm>
          <a:prstGeom prst="roundRect">
            <a:avLst/>
          </a:prstGeom>
          <a:solidFill>
            <a:srgbClr val="E88A1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497AD-E48F-C7CB-9D55-C00708A3861B}"/>
              </a:ext>
            </a:extLst>
          </p:cNvPr>
          <p:cNvSpPr txBox="1"/>
          <p:nvPr/>
        </p:nvSpPr>
        <p:spPr>
          <a:xfrm>
            <a:off x="635000" y="4368800"/>
            <a:ext cx="1397000" cy="271869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CHECK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2F117-D3E0-D3ED-9914-A78AA23B45FE}"/>
              </a:ext>
            </a:extLst>
          </p:cNvPr>
          <p:cNvSpPr txBox="1"/>
          <p:nvPr/>
        </p:nvSpPr>
        <p:spPr>
          <a:xfrm>
            <a:off x="2349500" y="4368800"/>
            <a:ext cx="62865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>
                <a:solidFill>
                  <a:srgbClr val="1B3A4B"/>
                </a:solidFill>
                <a:latin typeface="Segoe UI" panose="020B0502040204020203" pitchFamily="34" charset="0"/>
              </a:rPr>
              <a:t>Flag anything you assumed and I'll confirm it.</a:t>
            </a:r>
          </a:p>
        </p:txBody>
      </p:sp>
    </p:spTree>
    <p:extLst>
      <p:ext uri="{BB962C8B-B14F-4D97-AF65-F5344CB8AC3E}">
        <p14:creationId xmlns:p14="http://schemas.microsoft.com/office/powerpoint/2010/main" val="302206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DF90-089C-E3C2-125F-287298F3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Give the AI a job, the facts, the shape of the answer, and a way to stay honest.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That beats 90% of users who just type a question.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CCBC-7CF8-6DFF-3A15-850BE5D8E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1359DB-EFAD-BDE2-BF56-90FFBF1E7C6B}"/>
              </a:ext>
            </a:extLst>
          </p:cNvPr>
          <p:cNvSpPr/>
          <p:nvPr/>
        </p:nvSpPr>
        <p:spPr>
          <a:xfrm>
            <a:off x="762000" y="2984500"/>
            <a:ext cx="7620000" cy="1206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E672C-AD34-7FB6-9194-D6CBD1AA65E2}"/>
              </a:ext>
            </a:extLst>
          </p:cNvPr>
          <p:cNvSpPr txBox="1"/>
          <p:nvPr/>
        </p:nvSpPr>
        <p:spPr>
          <a:xfrm>
            <a:off x="914400" y="3086100"/>
            <a:ext cx="7340600" cy="62581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You are my office assistant. Summarize the attached email chain in 3 bullet points: what the client wants, any dates, and what they're asking me to do. If anything is unclear, say UNSURE next to it. Keep it under 60 words.</a:t>
            </a:r>
          </a:p>
        </p:txBody>
      </p:sp>
    </p:spTree>
    <p:extLst>
      <p:ext uri="{BB962C8B-B14F-4D97-AF65-F5344CB8AC3E}">
        <p14:creationId xmlns:p14="http://schemas.microsoft.com/office/powerpoint/2010/main" val="239276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8098-F045-7BED-4C1C-86177E79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Open any free AI tool - ChatGPT, Claude, or Gemini - and paste this: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00B6-A4AF-35E3-C0D4-71498C92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537228-0550-0D4F-03F6-38254BAA52C7}"/>
              </a:ext>
            </a:extLst>
          </p:cNvPr>
          <p:cNvSpPr/>
          <p:nvPr/>
        </p:nvSpPr>
        <p:spPr>
          <a:xfrm>
            <a:off x="762000" y="2540000"/>
            <a:ext cx="7620000" cy="1143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D8DCB-41E6-EE5D-A971-27D17C879A2F}"/>
              </a:ext>
            </a:extLst>
          </p:cNvPr>
          <p:cNvSpPr txBox="1"/>
          <p:nvPr/>
        </p:nvSpPr>
        <p:spPr>
          <a:xfrm>
            <a:off x="914400" y="2641600"/>
            <a:ext cx="7340600" cy="425758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300">
                <a:solidFill>
                  <a:srgbClr val="1B3A4B"/>
                </a:solidFill>
                <a:latin typeface="Segoe UI" panose="020B0502040204020203" pitchFamily="34" charset="0"/>
              </a:rPr>
              <a:t>You are a friendly explainer. Explain to a concrete contractor in 5 sentences why an AI draft can be wrong even when it sounds confident. Use one example about concrete quantities.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4CAAC-85D7-C2A3-7A00-3A92FB723A8B}"/>
              </a:ext>
            </a:extLst>
          </p:cNvPr>
          <p:cNvSpPr txBox="1"/>
          <p:nvPr/>
        </p:nvSpPr>
        <p:spPr>
          <a:xfrm>
            <a:off x="762000" y="3810000"/>
            <a:ext cx="7620000" cy="256480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500" b="1">
                <a:solidFill>
                  <a:srgbClr val="E88A1A"/>
                </a:solidFill>
                <a:latin typeface="Segoe UI" panose="020B0502040204020203" pitchFamily="34" charset="0"/>
              </a:rPr>
              <a:t>Notice the tone: confident. That's exactly why you'll always CHECK.</a:t>
            </a:r>
          </a:p>
        </p:txBody>
      </p:sp>
    </p:spTree>
    <p:extLst>
      <p:ext uri="{BB962C8B-B14F-4D97-AF65-F5344CB8AC3E}">
        <p14:creationId xmlns:p14="http://schemas.microsoft.com/office/powerpoint/2010/main" val="73511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F71B-F94A-C197-0A99-21C1C597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spcBef>
                <a:spcPct val="600000"/>
              </a:spcBef>
              <a:spcAft>
                <a:spcPct val="200000"/>
              </a:spcAft>
              <a:buClr>
                <a:srgbClr val="E88A1A"/>
              </a:buClr>
              <a:buFont typeface="+mj-lt"/>
              <a:buChar char="•"/>
            </a:pP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can say what AI is in one plain-English sentence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know the golden rule: AI drafts, you decide</a:t>
            </a:r>
            <a:b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</a:br>
            <a:r>
              <a:rPr lang="en-US" sz="1800">
                <a:solidFill>
                  <a:srgbClr val="1B3A4B"/>
                </a:solidFill>
                <a:latin typeface="Segoe UI" panose="020B0502040204020203" pitchFamily="34" charset="0"/>
              </a:rPr>
              <a:t>You can name the 5 parts of every prompt: ROLE, TASK, CONTEXT, FORMAT,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6FEB-2527-6F42-1F78-F52C59106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69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AF93-23DE-4544-D08C-C544BF66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C56F-101E-0D51-19C1-A7DE48322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015C0B-EB91-9AF9-C2D5-FE61C3CE43C3}"/>
              </a:ext>
            </a:extLst>
          </p:cNvPr>
          <p:cNvSpPr/>
          <p:nvPr/>
        </p:nvSpPr>
        <p:spPr>
          <a:xfrm>
            <a:off x="762000" y="1524000"/>
            <a:ext cx="7620000" cy="2921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7BAD5-7D45-AA88-501D-08C49935A78C}"/>
              </a:ext>
            </a:extLst>
          </p:cNvPr>
          <p:cNvSpPr txBox="1"/>
          <p:nvPr/>
        </p:nvSpPr>
        <p:spPr>
          <a:xfrm>
            <a:off x="990600" y="1714500"/>
            <a:ext cx="7162800" cy="24109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ROLE     You are a [job title].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A9ECA-A6DC-CEFB-D671-56DDDE820702}"/>
              </a:ext>
            </a:extLst>
          </p:cNvPr>
          <p:cNvSpPr txBox="1"/>
          <p:nvPr/>
        </p:nvSpPr>
        <p:spPr>
          <a:xfrm>
            <a:off x="990600" y="2222500"/>
            <a:ext cx="7162800" cy="24109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TASK     Do [one specific thing].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7E9467-FBF8-8170-4210-F35410E989C4}"/>
              </a:ext>
            </a:extLst>
          </p:cNvPr>
          <p:cNvSpPr txBox="1"/>
          <p:nvPr/>
        </p:nvSpPr>
        <p:spPr>
          <a:xfrm>
            <a:off x="990600" y="2730500"/>
            <a:ext cx="7162800" cy="24109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CONTEXT  Here are the facts: [numbers, names, dates, specs].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9E9D5-25C4-F1CD-77AC-C348BEA7D2BB}"/>
              </a:ext>
            </a:extLst>
          </p:cNvPr>
          <p:cNvSpPr txBox="1"/>
          <p:nvPr/>
        </p:nvSpPr>
        <p:spPr>
          <a:xfrm>
            <a:off x="990600" y="3238500"/>
            <a:ext cx="7162800" cy="24109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FORMAT   Answer as [table / bullets / email / 1 page].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1AB79-270F-EE39-C0AE-1AB581284F75}"/>
              </a:ext>
            </a:extLst>
          </p:cNvPr>
          <p:cNvSpPr txBox="1"/>
          <p:nvPr/>
        </p:nvSpPr>
        <p:spPr>
          <a:xfrm>
            <a:off x="990600" y="3746500"/>
            <a:ext cx="7162800" cy="241092"/>
          </a:xfrm>
          <a:prstGeom prst="rect">
            <a:avLst/>
          </a:prstGeom>
          <a:noFill/>
        </p:spPr>
        <p:txBody>
          <a:bodyPr vert="horz" wrap="square" lIns="0" tIns="12700" rIns="0" bIns="12700" rtlCol="0">
            <a:spAutoFit/>
          </a:bodyPr>
          <a:lstStyle/>
          <a:p>
            <a:r>
              <a:rPr lang="en-US" sz="1400">
                <a:solidFill>
                  <a:srgbClr val="1B3A4B"/>
                </a:solidFill>
                <a:latin typeface="Segoe UI" panose="020B0502040204020203" pitchFamily="34" charset="0"/>
              </a:rPr>
              <a:t>CHECK    List anything you assumed; I'll confirm before I use it.</a:t>
            </a:r>
          </a:p>
        </p:txBody>
      </p:sp>
    </p:spTree>
    <p:extLst>
      <p:ext uri="{BB962C8B-B14F-4D97-AF65-F5344CB8AC3E}">
        <p14:creationId xmlns:p14="http://schemas.microsoft.com/office/powerpoint/2010/main" val="112464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3A4B"/>
      </a:dk2>
      <a:lt2>
        <a:srgbClr val="F5F3EF"/>
      </a:lt2>
      <a:accent1>
        <a:srgbClr val="E88A1A"/>
      </a:accent1>
      <a:accent2>
        <a:srgbClr val="4F7CAC"/>
      </a:accent2>
      <a:accent3>
        <a:srgbClr val="5D8A68"/>
      </a:accent3>
      <a:accent4>
        <a:srgbClr val="9B6B43"/>
      </a:accent4>
      <a:accent5>
        <a:srgbClr val="7A8B9A"/>
      </a:accent5>
      <a:accent6>
        <a:srgbClr val="C2563E"/>
      </a:accent6>
      <a:hlink>
        <a:srgbClr val="1B3A4B"/>
      </a:hlink>
      <a:folHlink>
        <a:srgbClr val="7A8B9A"/>
      </a:folHlink>
    </a:clrScheme>
    <a:fontScheme name="Office">
      <a:majorFont>
        <a:latin typeface="Segoe UI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ï¼­ï¼³ ï¼°ã‚´ã‚·ãƒƒã‚¯"/>
        <a:font script="Hang" typeface="ë§‘ì€ ê³ ë”•"/>
        <a:font script="Hans" typeface="å®‹ä½“"/>
        <a:font script="Hant" typeface="æ–°ç´°æ˜Žé«”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On-screen Show (16:9)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Lesson 0</vt:lpstr>
      <vt:lpstr>What AI is, in 30 seconds - without the hype What AI is genuinely good at (and bad at) for a concrete business The one skill you'll reuse in every other lesson of this module</vt:lpstr>
      <vt:lpstr>ChatGPT, Claude and Google Gemini are autocomplete engines on steroids They've read a huge amount of text and learned to predict a useful response Give them a clear task and they generate a strong draft back They're not thinking - they produce the most-likely-useful answer</vt:lpstr>
      <vt:lpstr>Fast - a draft bid email in 15 seconds, not 20 minutes Helpful at starting - the hardest part of any document is the blank page Wrong sometimes - confident-sounding mistakes (that's why Lesson 5 exists)</vt:lpstr>
      <vt:lpstr>PowerPoint Presentation</vt:lpstr>
      <vt:lpstr>PowerPoint Presentation</vt:lpstr>
      <vt:lpstr>Every prompt in every lesson follows the same five-part pattern: ROLE - who the AI should pretend to be TASK - what you want it to do CONTEXT - the facts it needs FORMAT - how the answer should look CHECK - how you'll verify the work</vt:lpstr>
      <vt:lpstr>PowerPoint Presentation</vt:lpstr>
      <vt:lpstr>Give the AI a job, the facts, the shape of the answer, and a way to stay honest. That beats 90% of users who just type a question.</vt:lpstr>
      <vt:lpstr>Open any free AI tool - ChatGPT, Claude, or Gemini - and paste this:</vt:lpstr>
      <vt:lpstr>You can say what AI is in one plain-English sentence You know the golden rule: AI drafts, you decide You can name the 5 parts of every prompt: ROLE, TASK, CONTEXT, FORMAT, CHECK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Concrete Contractors</dc:title>
  <dc:creator/>
  <cp:keywords/>
  <cp:lastModifiedBy>Whitney Smith</cp:lastModifiedBy>
  <cp:revision>11</cp:revision>
  <dcterms:created xsi:type="dcterms:W3CDTF">2026-08-13T19:32:12Z</dcterms:created>
  <dcterms:modified xsi:type="dcterms:W3CDTF">2026-08-14T18:04:01Z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Welcome Lesson</vt:lpwstr>
  </property>
</Properties>
</file>