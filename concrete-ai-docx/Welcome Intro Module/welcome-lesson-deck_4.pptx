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12" dt="2026-08-13T22:41:22.962"/>
    <p1510:client id="{53621643-79B2-5282-B06D-74F6D58D85CA}" v="15" dt="2026-08-14T17:33:33.0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8/14/2026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p:nvPr/>
        </p:nvSpPr>
        <p:spPr/>
        <p:txBody>
          <a:bodyPr/>
          <a:lstStyle/>
          <a:p>
            <a:pPr algn="l"/>
            <a:r>
              <a:rPr lang="en-US"/>
              <a:t>Welcome everyone. This is the intro to the AI module for your concrete business. The whole course runs on one idea: AI drafts, you decide. Keep that in your head because it comes up in every single lesson.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Read these points as signs the course is for them. If they nodded at even one, especially the 20-minute email one, they’re in the right place. These are the exact pains the module solves.</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Reassure people who are nervous about tech. Their phone skills are all they need. This kills the biggest excuse people use not to start.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This is the money slide. Walk each row: the pain on the left, the outcome on the right. Tell them all six outcomes are real and every one is covered by a specific lesson.</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Give the roadmap. Stress the time commitment is small — about the length of a bad meeting. And note they can skip around; it’s not a locked path.</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Lesson 1 is the setup lesson: pick one free app, learn the 5-part prompt, and use it for the daily grind. If someone does nothing else, doing Lesson 1 will already save them hours a week.</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money lesson. Key message: AI is a speed tool for estimating, not a license to skip the math. They still own the number. We build a reusable bid prompt file so every bid sounds like them.</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For the field people. This is about never re-typing the same site notes and never being blindsided by weather or an inspector. Photo-to-QA is a favorite once they try it.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For the office side — the money they already earned but haven’t collected. Strong point for owners: know your numbers so you’re not flying blind, and get paid faster.</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The safety lesson. It protects clients, crew, and pricing margins. Frame it as insurance: important, short, and worth reading before pasting anything sensitive. Also covers how to check AI answers before they go out the door.</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Reassure the skipper-types. Tell them to go straight where it hurts most. This raises engagement because people read what they actually need.</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Hands-on is the point. Every lesson ends with them actually doing something with a real job from their own week. No passive watching.</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Make this feel like a guarantee. By the end of lesson one, they’ll have sent something real written with AI. That’s the hook that keeps them going.</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Set honest expectations up front — this is what builds trust. AI is a great first-drafter, not a fortune-teller. It doesn’t know their local prices or crew. And data safety is covered so they use it without fear.</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Strong close. Validate who they are — they know how to pour — then point them to the first real lesson. End on action, not theory.</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1B3A4B"/>
        </a:solidFill>
        <a:effectLst/>
      </p:bgPr>
    </p:bg>
    <p:spTree>
      <p:nvGrpSpPr>
        <p:cNvPr id="1" name=""/>
        <p:cNvGrpSpPr/>
        <p:nvPr/>
      </p:nvGrpSpPr>
      <p:grpSpPr>
        <a:xfrm>
          <a:off x="0" y="0"/>
          <a:ext cx="0" cy="0"/>
          <a:chOff x="0" y="0"/>
          <a:chExt cx="0" cy="0"/>
        </a:xfrm>
      </p:grpSpPr>
      <p:sp>
        <p:nvSpPr>
          <p:cNvPr id="10" name="TopBar"/>
          <p:cNvSpPr/>
          <p:nvPr/>
        </p:nvSpPr>
        <p:spPr>
          <a:xfrm>
            <a:off x="0" y="0"/>
            <a:ext cx="9144000" cy="80000"/>
          </a:xfrm>
          <a:prstGeom prst="rect">
            <a:avLst/>
          </a:prstGeom>
          <a:solidFill>
            <a:srgbClr val="E88A1A"/>
          </a:solidFill>
          <a:ln>
            <a:noFill/>
          </a:ln>
        </p:spPr>
        <p:txBody>
          <a:bodyPr/>
          <a:lstStyle/>
          <a:p>
            <a:endParaRPr/>
          </a:p>
        </p:txBody>
      </p:sp>
      <p:sp>
        <p:nvSpPr>
          <p:cNvPr id="2" name="Title 1"/>
          <p:cNvSpPr>
            <a:spLocks noGrp="1"/>
          </p:cNvSpPr>
          <p:nvPr>
            <p:ph type="ctrTitle"/>
          </p:nvPr>
        </p:nvSpPr>
        <p:spPr>
          <a:xfrm>
            <a:off x="685800" y="2100000"/>
            <a:ext cx="7772400" cy="1200000"/>
          </a:xfrm>
        </p:spPr>
        <p:txBody>
          <a:bodyPr rtlCol="0" anchor="ctr"/>
          <a:lstStyle>
            <a:lvl1pPr marL="0" indent="0" algn="ctr">
              <a:buNone/>
              <a:defRPr sz="4400" b="1" kern="1200">
                <a:solidFill>
                  <a:srgbClr val="FFFFFF"/>
                </a:solidFill>
              </a:defRPr>
            </a:lvl1pPr>
          </a:lstStyle>
          <a:p>
            <a:r>
              <a:rPr lang="en-US"/>
              <a:t>Click to edit Master title style</a:t>
            </a:r>
          </a:p>
        </p:txBody>
      </p:sp>
      <p:sp>
        <p:nvSpPr>
          <p:cNvPr id="3" name="Subtitle 2"/>
          <p:cNvSpPr>
            <a:spLocks noGrp="1"/>
          </p:cNvSpPr>
          <p:nvPr>
            <p:ph type="subTitle" idx="1"/>
          </p:nvPr>
        </p:nvSpPr>
        <p:spPr>
          <a:xfrm>
            <a:off x="1371600" y="3650000"/>
            <a:ext cx="6400800" cy="700000"/>
          </a:xfrm>
        </p:spPr>
        <p:txBody>
          <a:bodyPr rtlCol="0" anchor="ctr"/>
          <a:lstStyle>
            <a:lvl1pPr marL="0" indent="0" algn="ctr">
              <a:buNone/>
              <a:defRPr sz="2200" b="0">
                <a:solidFill>
                  <a:srgbClr val="E88A1A"/>
                </a:solidFill>
              </a:defRPr>
            </a:lvl1pPr>
            <a:lvl2pPr marL="342900" indent="0" algn="ctr">
              <a:buNone/>
              <a:defRPr>
                <a:solidFill>
                  <a:srgbClr val="E88A1A"/>
                </a:solidFill>
              </a:defRPr>
            </a:lvl2pPr>
            <a:lvl3pPr marL="685800" indent="0" algn="ctr">
              <a:buNone/>
              <a:defRPr>
                <a:solidFill>
                  <a:srgbClr val="E88A1A"/>
                </a:solidFill>
              </a:defRPr>
            </a:lvl3pPr>
            <a:lvl4pPr marL="1028700" indent="0" algn="ctr">
              <a:buNone/>
              <a:defRPr>
                <a:solidFill>
                  <a:srgbClr val="E88A1A"/>
                </a:solidFill>
              </a:defRPr>
            </a:lvl4pPr>
            <a:lvl5pPr marL="1371600" indent="0" algn="ctr">
              <a:buNone/>
              <a:defRPr>
                <a:solidFill>
                  <a:srgbClr val="E88A1A"/>
                </a:solidFill>
              </a:defRPr>
            </a:lvl5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TopBand"/>
          <p:cNvSpPr/>
          <p:nvPr/>
        </p:nvSpPr>
        <p:spPr>
          <a:xfrm>
            <a:off x="0" y="0"/>
            <a:ext cx="9144000" cy="1200000"/>
          </a:xfrm>
          <a:prstGeom prst="rect">
            <a:avLst/>
          </a:prstGeom>
          <a:solidFill>
            <a:srgbClr val="1B3A4B"/>
          </a:solidFill>
          <a:ln>
            <a:noFill/>
          </a:ln>
        </p:spPr>
        <p:txBody>
          <a:bodyPr/>
          <a:lstStyle/>
          <a:p>
            <a:endParaRPr/>
          </a:p>
        </p:txBody>
      </p:sp>
      <p:sp>
        <p:nvSpPr>
          <p:cNvPr id="8" name="AccentLine"/>
          <p:cNvSpPr/>
          <p:nvPr/>
        </p:nvSpPr>
        <p:spPr>
          <a:xfrm>
            <a:off x="0" y="1200000"/>
            <a:ext cx="9144000" cy="50000"/>
          </a:xfrm>
          <a:prstGeom prst="rect">
            <a:avLst/>
          </a:prstGeom>
          <a:solidFill>
            <a:srgbClr val="E88A1A"/>
          </a:solidFill>
          <a:ln>
            <a:noFill/>
          </a:ln>
        </p:spPr>
        <p:txBody>
          <a:bodyPr/>
          <a:lstStyle/>
          <a:p>
            <a:endParaRPr/>
          </a:p>
        </p:txBody>
      </p:sp>
      <p:sp>
        <p:nvSpPr>
          <p:cNvPr id="9" name="BrandText"/>
          <p:cNvSpPr/>
          <p:nvPr/>
        </p:nvSpPr>
        <p:spPr>
          <a:xfrm>
            <a:off x="457200" y="4860000"/>
            <a:ext cx="3657600" cy="273844"/>
          </a:xfrm>
          <a:prstGeom prst="rect">
            <a:avLst/>
          </a:prstGeom>
          <a:noFill/>
          <a:ln>
            <a:noFill/>
          </a:ln>
        </p:spPr>
        <p:txBody>
          <a:bodyPr anchor="ctr"/>
          <a:lstStyle/>
          <a:p>
            <a:r>
              <a:rPr lang="en-US" sz="1100">
                <a:solidFill>
                  <a:srgbClr val="8A9096"/>
                </a:solidFill>
              </a:rPr>
              <a:t>AI for Concrete Contractors</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7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8/14/2026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rtl="0" eaLnBrk="1" latinLnBrk="0" hangingPunct="1">
        <a:spcBef>
          <a:spcPct val="0"/>
        </a:spcBef>
        <a:spcAft>
          <a:spcPct val="0"/>
        </a:spcAft>
        <a:buNone/>
        <a:defRPr sz="3000" b="1" kern="800">
          <a:solidFill>
            <a:srgbClr val="FFFFFF"/>
          </a:solidFill>
          <a:latin typeface="+mj-lt"/>
          <a:ea typeface="+mj-ea"/>
          <a:cs typeface="+mj-cs"/>
        </a:defRPr>
      </a:lvl1pPr>
    </p:titleStyle>
    <p:bodyStyle>
      <a:lvl1pPr marL="342900" indent="-342900" algn="l" defTabSz="342900" rtl="0" eaLnBrk="1" latinLnBrk="0" hangingPunct="1">
        <a:spcBef>
          <a:spcPct val="24000"/>
        </a:spcBef>
        <a:buClr>
          <a:srgbClr val="E88A1A"/>
        </a:buClr>
        <a:buSzPct val="70000"/>
        <a:buFont typeface="Arial"/>
        <a:buChar char="â€¢"/>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â€“"/>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â€¢"/>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â€“"/>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Â»"/>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â€¢"/>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â€¢"/>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â€¢"/>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â€¢"/>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AI for Concrete Contractors</a:t>
            </a:r>
          </a:p>
        </p:txBody>
      </p:sp>
      <p:sp>
        <p:nvSpPr>
          <p:cNvPr id="5" name="Subtitle 4" hidden="1">
            <a:extLst>
              <a:ext uri="{FF2B5EF4-FFF2-40B4-BE49-F238E27FC236}">
                <a16:creationId xmlns:a16="http://schemas.microsoft.com/office/drawing/2014/main" id="{80CB57F3-2203-A64D-AD08-9543E4522027}"/>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Who This Is For</a:t>
            </a:r>
          </a:p>
        </p:txBody>
      </p:sp>
      <p:sp>
        <p:nvSpPr>
          <p:cNvPr id="3" name="Content Placeholder 2"/>
          <p:cNvSpPr>
            <a:spLocks noGrp="1"/>
          </p:cNvSpPr>
          <p:nvPr>
            <p:ph idx="1"/>
          </p:nvPr>
        </p:nvSpPr>
        <p:spPr>
          <a:xfrm>
            <a:off x="457200" y="1438276"/>
            <a:ext cx="8229600" cy="3394472"/>
          </a:xfrm>
        </p:spPr>
        <p:txBody>
          <a:bodyPr vert="horz" lIns="91440" tIns="45720" rIns="91440" bIns="45720" rtlCol="0" anchor="t">
            <a:noAutofit/>
          </a:bodyPr>
          <a:lstStyle/>
          <a:p>
            <a:pPr marL="0" lvl="0" indent="0">
              <a:buNone/>
            </a:pPr>
            <a:r>
              <a:rPr sz="2200"/>
              <a:t>You run a concrete business — </a:t>
            </a:r>
            <a:r>
              <a:rPr sz="2200" b="1"/>
              <a:t>flatwork, driveways, foundations, stamped, exposed aggregate, or ready-mix</a:t>
            </a:r>
            <a:r>
              <a:rPr sz="2200"/>
              <a:t> — and the office work is eating up your day</a:t>
            </a:r>
            <a:endParaRPr lang="en-US" sz="2200">
              <a:cs typeface="Segoe UI"/>
            </a:endParaRPr>
          </a:p>
          <a:p>
            <a:pPr lvl="0">
              <a:buChar char="•"/>
            </a:pPr>
            <a:r>
              <a:rPr sz="2200"/>
              <a:t>Every bid, email, and job log starts from a painful blank page.</a:t>
            </a:r>
            <a:endParaRPr sz="2200">
              <a:cs typeface="Segoe UI"/>
            </a:endParaRPr>
          </a:p>
          <a:p>
            <a:pPr lvl="0">
              <a:buChar char="•"/>
            </a:pPr>
            <a:r>
              <a:rPr sz="2200"/>
              <a:t>It takes you 20 minutes to write an email that should take 2.</a:t>
            </a:r>
            <a:endParaRPr sz="2200">
              <a:cs typeface="Segoe UI"/>
            </a:endParaRPr>
          </a:p>
          <a:p>
            <a:pPr lvl="0">
              <a:buChar char="•"/>
            </a:pPr>
            <a:r>
              <a:rPr sz="2200"/>
              <a:t>You know you’re leaving money on the table in quoting, chasing, or collections, but you never have the time to fix it.</a:t>
            </a:r>
            <a:endParaRPr sz="2200">
              <a:cs typeface="Segoe UI"/>
            </a:endParaRPr>
          </a:p>
          <a:p>
            <a:pPr lvl="0">
              <a:buChar char="•"/>
            </a:pPr>
            <a:r>
              <a:rPr sz="2200"/>
              <a:t>You’ve heard of AI, tried it once, and got back generic text that “didn’t sound like you.”</a:t>
            </a:r>
            <a:endParaRPr sz="2200">
              <a:cs typeface="Segoe U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 This Is NOT</a:t>
            </a:r>
          </a:p>
        </p:txBody>
      </p:sp>
      <p:sp>
        <p:nvSpPr>
          <p:cNvPr id="3" name="Content Placeholder 2"/>
          <p:cNvSpPr>
            <a:spLocks noGrp="1"/>
          </p:cNvSpPr>
          <p:nvPr>
            <p:ph idx="1"/>
          </p:nvPr>
        </p:nvSpPr>
        <p:spPr>
          <a:xfrm>
            <a:off x="457200" y="1763714"/>
            <a:ext cx="8229600" cy="3394472"/>
          </a:xfrm>
        </p:spPr>
        <p:txBody>
          <a:bodyPr vert="horz" lIns="91440" tIns="45720" rIns="91440" bIns="45720" rtlCol="0" anchor="t">
            <a:normAutofit/>
          </a:bodyPr>
          <a:lstStyle/>
          <a:p>
            <a:pPr marL="0" lvl="0" indent="0">
              <a:buNone/>
            </a:pPr>
            <a:r>
              <a:t>This is </a:t>
            </a:r>
            <a:r>
              <a:rPr b="1"/>
              <a:t>not a tech course</a:t>
            </a:r>
            <a:r>
              <a:t>.</a:t>
            </a:r>
          </a:p>
          <a:p>
            <a:pPr lvl="0">
              <a:buChar char="•"/>
            </a:pPr>
            <a:r>
              <a:t>Zero programming</a:t>
            </a:r>
            <a:endParaRPr>
              <a:cs typeface="Segoe UI"/>
            </a:endParaRPr>
          </a:p>
          <a:p>
            <a:pPr lvl="0">
              <a:buChar char="•"/>
            </a:pPr>
            <a:r>
              <a:t>No data science</a:t>
            </a:r>
            <a:endParaRPr>
              <a:cs typeface="Segoe UI"/>
            </a:endParaRPr>
          </a:p>
          <a:p>
            <a:pPr>
              <a:buChar char="•"/>
            </a:pPr>
            <a:r>
              <a:t>No confusing jargon to look </a:t>
            </a:r>
            <a:r>
              <a:rPr lang="en-US"/>
              <a:t>up</a:t>
            </a:r>
          </a:p>
          <a:p>
            <a:pPr lvl="0">
              <a:buChar char="•"/>
            </a:pPr>
            <a:r>
              <a:rPr lang="en-US"/>
              <a:t>If</a:t>
            </a:r>
            <a:r>
              <a:t> you can send a text message, you can use everything in this module.</a:t>
            </a:r>
            <a:endParaRPr>
              <a:cs typeface="Segoe U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Your Daily Operations: Before and After AI</a:t>
            </a:r>
            <a:endParaRPr lang="en-US" b="0">
              <a:solidFill>
                <a:srgbClr val="000000"/>
              </a:solidFill>
            </a:endParaRPr>
          </a:p>
        </p:txBody>
      </p:sp>
      <p:sp>
        <p:nvSpPr>
          <p:cNvPr id="3" name="LeftCard"/>
          <p:cNvSpPr/>
          <p:nvPr/>
        </p:nvSpPr>
        <p:spPr>
          <a:xfrm>
            <a:off x="457200" y="1400000"/>
            <a:ext cx="3900000" cy="3300000"/>
          </a:xfrm>
          <a:prstGeom prst="roundRect">
            <a:avLst>
              <a:gd name="adj" fmla="val 6000"/>
            </a:avLst>
          </a:prstGeom>
          <a:solidFill>
            <a:srgbClr val="F3F1EA"/>
          </a:solidFill>
          <a:ln w="9525">
            <a:solidFill>
              <a:srgbClr val="DAD5C9"/>
            </a:solidFill>
          </a:ln>
        </p:spPr>
        <p:txBody>
          <a:bodyPr/>
          <a:lstStyle/>
          <a:p>
            <a:endParaRPr lang="en-US"/>
          </a:p>
        </p:txBody>
      </p:sp>
      <p:sp>
        <p:nvSpPr>
          <p:cNvPr id="4" name="LeftKicker"/>
          <p:cNvSpPr/>
          <p:nvPr/>
        </p:nvSpPr>
        <p:spPr>
          <a:xfrm>
            <a:off x="1405840" y="1616680"/>
            <a:ext cx="2096040" cy="260000"/>
          </a:xfrm>
          <a:prstGeom prst="rect">
            <a:avLst/>
          </a:prstGeom>
          <a:noFill/>
          <a:ln>
            <a:noFill/>
          </a:ln>
        </p:spPr>
        <p:txBody>
          <a:bodyPr rtlCol="0" anchor="ctr"/>
          <a:lstStyle/>
          <a:p>
            <a:pPr algn="l">
              <a:buNone/>
            </a:pPr>
            <a:r>
              <a:rPr sz="1600" b="1" kern="700">
                <a:solidFill>
                  <a:srgbClr val="E88A1A"/>
                </a:solidFill>
                <a:latin typeface="Segoe UI"/>
                <a:cs typeface="Segoe UI"/>
              </a:rPr>
              <a:t>THE FIELD HURDLE</a:t>
            </a:r>
          </a:p>
        </p:txBody>
      </p:sp>
      <p:sp>
        <p:nvSpPr>
          <p:cNvPr id="5" name="LeftUnderline"/>
          <p:cNvSpPr/>
          <p:nvPr/>
        </p:nvSpPr>
        <p:spPr>
          <a:xfrm>
            <a:off x="933400" y="2010980"/>
            <a:ext cx="2932660" cy="55240"/>
          </a:xfrm>
          <a:prstGeom prst="rect">
            <a:avLst/>
          </a:prstGeom>
          <a:solidFill>
            <a:srgbClr val="E88A1A"/>
          </a:solidFill>
          <a:ln>
            <a:noFill/>
          </a:ln>
        </p:spPr>
        <p:txBody>
          <a:bodyPr/>
          <a:lstStyle/>
          <a:p>
            <a:endParaRPr lang="en-US"/>
          </a:p>
        </p:txBody>
      </p:sp>
      <p:sp>
        <p:nvSpPr>
          <p:cNvPr id="6" name="WarnIcon1"/>
          <p:cNvSpPr/>
          <p:nvPr/>
        </p:nvSpPr>
        <p:spPr>
          <a:xfrm>
            <a:off x="857200" y="2309560"/>
            <a:ext cx="420000" cy="420000"/>
          </a:xfrm>
          <a:prstGeom prst="triangle">
            <a:avLst/>
          </a:prstGeom>
          <a:solidFill>
            <a:srgbClr val="E88A1A"/>
          </a:solidFill>
          <a:ln w="9525">
            <a:solidFill>
              <a:srgbClr val="D08A1A"/>
            </a:solidFill>
          </a:ln>
        </p:spPr>
        <p:txBody>
          <a:bodyPr/>
          <a:lstStyle/>
          <a:p>
            <a:endParaRPr lang="en-US"/>
          </a:p>
        </p:txBody>
      </p:sp>
      <p:sp>
        <p:nvSpPr>
          <p:cNvPr id="7" name="WarnText1"/>
          <p:cNvSpPr/>
          <p:nvPr/>
        </p:nvSpPr>
        <p:spPr>
          <a:xfrm>
            <a:off x="857200" y="2387660"/>
            <a:ext cx="420000" cy="340000"/>
          </a:xfrm>
          <a:prstGeom prst="rect">
            <a:avLst/>
          </a:prstGeom>
          <a:noFill/>
          <a:ln>
            <a:noFill/>
          </a:ln>
        </p:spPr>
        <p:txBody>
          <a:bodyPr rtlCol="0" anchor="ctr"/>
          <a:lstStyle/>
          <a:p>
            <a:pPr algn="ctr">
              <a:buNone/>
            </a:pPr>
            <a:r>
              <a:rPr sz="2400" b="1">
                <a:solidFill>
                  <a:srgbClr val="FFFFFF"/>
                </a:solidFill>
                <a:latin typeface="Segoe UI"/>
                <a:cs typeface="Segoe UI"/>
              </a:rPr>
              <a:t>!</a:t>
            </a:r>
          </a:p>
        </p:txBody>
      </p:sp>
      <p:sp>
        <p:nvSpPr>
          <p:cNvPr id="8" name="LeftText1"/>
          <p:cNvSpPr>
            <a:spLocks noGrp="1"/>
          </p:cNvSpPr>
          <p:nvPr/>
        </p:nvSpPr>
        <p:spPr>
          <a:xfrm>
            <a:off x="1330000" y="2138120"/>
            <a:ext cx="2877200" cy="560000"/>
          </a:xfrm>
          <a:prstGeom prst="rect">
            <a:avLst/>
          </a:prstGeom>
          <a:noFill/>
          <a:ln>
            <a:noFill/>
          </a:ln>
        </p:spPr>
        <p:txBody>
          <a:bodyPr lIns="91440" tIns="45720" rIns="91440" bIns="45720" rtlCol="0" anchor="ctr"/>
          <a:lstStyle/>
          <a:p>
            <a:pPr algn="l">
              <a:buNone/>
            </a:pPr>
            <a:endParaRPr lang="en-US" sz="1300" b="1" kern="400">
              <a:solidFill>
                <a:srgbClr val="D08A1A"/>
              </a:solidFill>
              <a:cs typeface="Segoe UI"/>
            </a:endParaRPr>
          </a:p>
          <a:p>
            <a:pPr algn="l">
              <a:buNone/>
            </a:pPr>
            <a:r>
              <a:rPr sz="2000">
                <a:solidFill>
                  <a:srgbClr val="1B3A4B"/>
                </a:solidFill>
                <a:latin typeface="Segoe UI"/>
                <a:cs typeface="Segoe UI"/>
              </a:rPr>
              <a:t>Blank-page dread on every bid.</a:t>
            </a:r>
          </a:p>
        </p:txBody>
      </p:sp>
      <p:sp>
        <p:nvSpPr>
          <p:cNvPr id="9" name="WarnIcon2"/>
          <p:cNvSpPr/>
          <p:nvPr/>
        </p:nvSpPr>
        <p:spPr>
          <a:xfrm>
            <a:off x="857200" y="3110040"/>
            <a:ext cx="420000" cy="420000"/>
          </a:xfrm>
          <a:prstGeom prst="triangle">
            <a:avLst/>
          </a:prstGeom>
          <a:solidFill>
            <a:srgbClr val="E88A1A"/>
          </a:solidFill>
          <a:ln w="9525">
            <a:solidFill>
              <a:srgbClr val="D08A1A"/>
            </a:solidFill>
          </a:ln>
        </p:spPr>
        <p:txBody>
          <a:bodyPr/>
          <a:lstStyle/>
          <a:p>
            <a:endParaRPr lang="en-US"/>
          </a:p>
        </p:txBody>
      </p:sp>
      <p:sp>
        <p:nvSpPr>
          <p:cNvPr id="10" name="WarnText2"/>
          <p:cNvSpPr/>
          <p:nvPr/>
        </p:nvSpPr>
        <p:spPr>
          <a:xfrm>
            <a:off x="857200" y="3188140"/>
            <a:ext cx="420000" cy="340000"/>
          </a:xfrm>
          <a:prstGeom prst="rect">
            <a:avLst/>
          </a:prstGeom>
          <a:noFill/>
          <a:ln>
            <a:noFill/>
          </a:ln>
        </p:spPr>
        <p:txBody>
          <a:bodyPr rtlCol="0" anchor="ctr"/>
          <a:lstStyle/>
          <a:p>
            <a:pPr algn="ctr">
              <a:buNone/>
            </a:pPr>
            <a:r>
              <a:rPr sz="2400" b="1">
                <a:solidFill>
                  <a:srgbClr val="FFFFFF"/>
                </a:solidFill>
                <a:latin typeface="Segoe UI"/>
                <a:cs typeface="Segoe UI"/>
              </a:rPr>
              <a:t>!</a:t>
            </a:r>
          </a:p>
        </p:txBody>
      </p:sp>
      <p:sp>
        <p:nvSpPr>
          <p:cNvPr id="11" name="LeftText2"/>
          <p:cNvSpPr>
            <a:spLocks noGrp="1"/>
          </p:cNvSpPr>
          <p:nvPr/>
        </p:nvSpPr>
        <p:spPr>
          <a:xfrm>
            <a:off x="1330000" y="2908120"/>
            <a:ext cx="2877200" cy="560000"/>
          </a:xfrm>
          <a:prstGeom prst="rect">
            <a:avLst/>
          </a:prstGeom>
          <a:noFill/>
          <a:ln>
            <a:noFill/>
          </a:ln>
        </p:spPr>
        <p:txBody>
          <a:bodyPr lIns="91440" tIns="45720" rIns="91440" bIns="45720" rtlCol="0" anchor="ctr"/>
          <a:lstStyle/>
          <a:p>
            <a:pPr algn="l">
              <a:buNone/>
            </a:pPr>
            <a:endParaRPr lang="en-US" sz="1300" b="1" kern="400">
              <a:solidFill>
                <a:srgbClr val="D08A1A"/>
              </a:solidFill>
              <a:latin typeface="Segoe UI"/>
              <a:cs typeface="Segoe UI"/>
            </a:endParaRPr>
          </a:p>
          <a:p>
            <a:pPr algn="l">
              <a:buNone/>
            </a:pPr>
            <a:r>
              <a:rPr sz="2000">
                <a:solidFill>
                  <a:srgbClr val="1B3A4B"/>
                </a:solidFill>
                <a:latin typeface="Segoe UI"/>
                <a:cs typeface="Segoe UI"/>
              </a:rPr>
              <a:t>Emails, specs and site notes pile up all day.</a:t>
            </a:r>
          </a:p>
        </p:txBody>
      </p:sp>
      <p:sp>
        <p:nvSpPr>
          <p:cNvPr id="12" name="WarnIcon3"/>
          <p:cNvSpPr/>
          <p:nvPr/>
        </p:nvSpPr>
        <p:spPr>
          <a:xfrm>
            <a:off x="857200" y="3872420"/>
            <a:ext cx="420000" cy="420000"/>
          </a:xfrm>
          <a:prstGeom prst="triangle">
            <a:avLst/>
          </a:prstGeom>
          <a:solidFill>
            <a:srgbClr val="E88A1A"/>
          </a:solidFill>
          <a:ln w="9525">
            <a:solidFill>
              <a:srgbClr val="D08A1A"/>
            </a:solidFill>
          </a:ln>
        </p:spPr>
        <p:txBody>
          <a:bodyPr/>
          <a:lstStyle/>
          <a:p>
            <a:endParaRPr lang="en-US"/>
          </a:p>
        </p:txBody>
      </p:sp>
      <p:sp>
        <p:nvSpPr>
          <p:cNvPr id="13" name="WarnText3"/>
          <p:cNvSpPr/>
          <p:nvPr/>
        </p:nvSpPr>
        <p:spPr>
          <a:xfrm>
            <a:off x="857200" y="3950520"/>
            <a:ext cx="420000" cy="340000"/>
          </a:xfrm>
          <a:prstGeom prst="rect">
            <a:avLst/>
          </a:prstGeom>
          <a:noFill/>
          <a:ln>
            <a:noFill/>
          </a:ln>
        </p:spPr>
        <p:txBody>
          <a:bodyPr rtlCol="0" anchor="ctr"/>
          <a:lstStyle/>
          <a:p>
            <a:pPr algn="ctr">
              <a:buNone/>
            </a:pPr>
            <a:r>
              <a:rPr sz="2400" b="1">
                <a:solidFill>
                  <a:srgbClr val="FFFFFF"/>
                </a:solidFill>
                <a:latin typeface="Segoe UI"/>
                <a:cs typeface="Segoe UI"/>
              </a:rPr>
              <a:t>!</a:t>
            </a:r>
          </a:p>
        </p:txBody>
      </p:sp>
      <p:sp>
        <p:nvSpPr>
          <p:cNvPr id="14" name="LeftText3"/>
          <p:cNvSpPr>
            <a:spLocks noGrp="1"/>
          </p:cNvSpPr>
          <p:nvPr/>
        </p:nvSpPr>
        <p:spPr>
          <a:xfrm>
            <a:off x="1330000" y="3678120"/>
            <a:ext cx="2877200" cy="560000"/>
          </a:xfrm>
          <a:prstGeom prst="rect">
            <a:avLst/>
          </a:prstGeom>
          <a:noFill/>
          <a:ln>
            <a:noFill/>
          </a:ln>
        </p:spPr>
        <p:txBody>
          <a:bodyPr lIns="91440" tIns="45720" rIns="91440" bIns="45720" rtlCol="0" anchor="ctr"/>
          <a:lstStyle/>
          <a:p>
            <a:pPr algn="l">
              <a:buNone/>
            </a:pPr>
            <a:endParaRPr lang="en-US" sz="1300" b="1" kern="400">
              <a:solidFill>
                <a:srgbClr val="D08A1A"/>
              </a:solidFill>
              <a:latin typeface="Segoe UI"/>
              <a:cs typeface="Segoe UI"/>
            </a:endParaRPr>
          </a:p>
          <a:p>
            <a:r>
              <a:rPr lang="en-US" sz="2000">
                <a:solidFill>
                  <a:srgbClr val="1B3A4B"/>
                </a:solidFill>
                <a:latin typeface="Segoe UI"/>
                <a:cs typeface="Segoe UI"/>
              </a:rPr>
              <a:t>Chasing invoices</a:t>
            </a:r>
            <a:r>
              <a:rPr sz="2000">
                <a:solidFill>
                  <a:srgbClr val="1B3A4B"/>
                </a:solidFill>
                <a:latin typeface="Segoe UI"/>
                <a:cs typeface="Segoe UI"/>
              </a:rPr>
              <a:t> and numbers stay hidden.</a:t>
            </a:r>
          </a:p>
        </p:txBody>
      </p:sp>
      <p:sp>
        <p:nvSpPr>
          <p:cNvPr id="15" name="RightCard"/>
          <p:cNvSpPr/>
          <p:nvPr/>
        </p:nvSpPr>
        <p:spPr>
          <a:xfrm>
            <a:off x="4826100" y="1400000"/>
            <a:ext cx="3900000" cy="3300000"/>
          </a:xfrm>
          <a:prstGeom prst="roundRect">
            <a:avLst>
              <a:gd name="adj" fmla="val 6000"/>
            </a:avLst>
          </a:prstGeom>
          <a:solidFill>
            <a:srgbClr val="FFFFFF"/>
          </a:solidFill>
          <a:ln w="9525">
            <a:solidFill>
              <a:srgbClr val="DAD5C9"/>
            </a:solidFill>
          </a:ln>
        </p:spPr>
        <p:txBody>
          <a:bodyPr/>
          <a:lstStyle/>
          <a:p>
            <a:endParaRPr lang="en-US"/>
          </a:p>
        </p:txBody>
      </p:sp>
      <p:sp>
        <p:nvSpPr>
          <p:cNvPr id="16" name="RightKicker"/>
          <p:cNvSpPr/>
          <p:nvPr/>
        </p:nvSpPr>
        <p:spPr>
          <a:xfrm>
            <a:off x="5477560" y="1616680"/>
            <a:ext cx="2591340" cy="260000"/>
          </a:xfrm>
          <a:prstGeom prst="rect">
            <a:avLst/>
          </a:prstGeom>
          <a:noFill/>
          <a:ln>
            <a:noFill/>
          </a:ln>
        </p:spPr>
        <p:txBody>
          <a:bodyPr lIns="91440" tIns="45720" rIns="91440" bIns="45720" rtlCol="0" anchor="ctr"/>
          <a:lstStyle/>
          <a:p>
            <a:pPr algn="ctr">
              <a:buNone/>
            </a:pPr>
            <a:r>
              <a:rPr sz="1600" b="1" kern="700">
                <a:solidFill>
                  <a:srgbClr val="1B3A4B"/>
                </a:solidFill>
                <a:latin typeface="Segoe UI"/>
                <a:cs typeface="Segoe UI"/>
              </a:rPr>
              <a:t>THE OFFICE ADVANTAGE</a:t>
            </a:r>
            <a:endParaRPr lang="en-US"/>
          </a:p>
        </p:txBody>
      </p:sp>
      <p:sp>
        <p:nvSpPr>
          <p:cNvPr id="17" name="RightUnderline"/>
          <p:cNvSpPr/>
          <p:nvPr/>
        </p:nvSpPr>
        <p:spPr>
          <a:xfrm>
            <a:off x="5309920" y="2026220"/>
            <a:ext cx="2932660" cy="55240"/>
          </a:xfrm>
          <a:prstGeom prst="rect">
            <a:avLst/>
          </a:prstGeom>
          <a:solidFill>
            <a:srgbClr val="5D8A68"/>
          </a:solidFill>
          <a:ln>
            <a:noFill/>
          </a:ln>
        </p:spPr>
        <p:txBody>
          <a:bodyPr/>
          <a:lstStyle/>
          <a:p>
            <a:endParaRPr lang="en-US"/>
          </a:p>
        </p:txBody>
      </p:sp>
      <p:sp>
        <p:nvSpPr>
          <p:cNvPr id="18" name="CheckIcon1"/>
          <p:cNvSpPr/>
          <p:nvPr/>
        </p:nvSpPr>
        <p:spPr>
          <a:xfrm>
            <a:off x="5188000" y="2324800"/>
            <a:ext cx="420000" cy="420000"/>
          </a:xfrm>
          <a:prstGeom prst="ellipse">
            <a:avLst/>
          </a:prstGeom>
          <a:solidFill>
            <a:srgbClr val="5D8A68"/>
          </a:solidFill>
          <a:ln w="9525">
            <a:solidFill>
              <a:srgbClr val="47704F"/>
            </a:solidFill>
          </a:ln>
        </p:spPr>
        <p:txBody>
          <a:bodyPr/>
          <a:lstStyle/>
          <a:p>
            <a:endParaRPr lang="en-US"/>
          </a:p>
        </p:txBody>
      </p:sp>
      <p:sp>
        <p:nvSpPr>
          <p:cNvPr id="19" name="CheckText1"/>
          <p:cNvSpPr/>
          <p:nvPr/>
        </p:nvSpPr>
        <p:spPr>
          <a:xfrm>
            <a:off x="5188000" y="2385760"/>
            <a:ext cx="420000" cy="420000"/>
          </a:xfrm>
          <a:prstGeom prst="rect">
            <a:avLst/>
          </a:prstGeom>
          <a:noFill/>
          <a:ln>
            <a:noFill/>
          </a:ln>
        </p:spPr>
        <p:txBody>
          <a:bodyPr rtlCol="0" anchor="ctr"/>
          <a:lstStyle/>
          <a:p>
            <a:pPr algn="ctr">
              <a:buNone/>
            </a:pPr>
            <a:r>
              <a:rPr sz="2800" b="1">
                <a:solidFill>
                  <a:srgbClr val="FFFFFF"/>
                </a:solidFill>
                <a:latin typeface="Wingdings"/>
                <a:cs typeface="Wingdings"/>
              </a:rPr>
              <a:t>ü</a:t>
            </a:r>
          </a:p>
        </p:txBody>
      </p:sp>
      <p:sp>
        <p:nvSpPr>
          <p:cNvPr id="20" name="RightText1"/>
          <p:cNvSpPr>
            <a:spLocks noGrp="1"/>
          </p:cNvSpPr>
          <p:nvPr/>
        </p:nvSpPr>
        <p:spPr>
          <a:xfrm>
            <a:off x="5650000" y="2280040"/>
            <a:ext cx="2888000" cy="520000"/>
          </a:xfrm>
          <a:prstGeom prst="rect">
            <a:avLst/>
          </a:prstGeom>
          <a:noFill/>
          <a:ln>
            <a:noFill/>
          </a:ln>
        </p:spPr>
        <p:txBody>
          <a:bodyPr lIns="91440" tIns="45720" rIns="91440" bIns="45720" rtlCol="0" anchor="ctr"/>
          <a:lstStyle/>
          <a:p>
            <a:pPr algn="l">
              <a:buNone/>
            </a:pPr>
            <a:r>
              <a:rPr sz="1600" b="1">
                <a:solidFill>
                  <a:srgbClr val="E88A1A"/>
                </a:solidFill>
                <a:latin typeface="Segoe UI"/>
                <a:cs typeface="Segoe UI"/>
              </a:rPr>
              <a:t>Draft</a:t>
            </a:r>
            <a:r>
              <a:rPr sz="1600">
                <a:solidFill>
                  <a:srgbClr val="1B3A4B"/>
                </a:solidFill>
                <a:latin typeface="Segoe UI"/>
                <a:cs typeface="Segoe UI"/>
              </a:rPr>
              <a:t> a pro bid in minutes, then make it yours.</a:t>
            </a:r>
            <a:endParaRPr lang="en-US" sz="1600">
              <a:solidFill>
                <a:srgbClr val="1B3A4B"/>
              </a:solidFill>
              <a:latin typeface="Segoe UI"/>
              <a:cs typeface="Segoe UI"/>
            </a:endParaRPr>
          </a:p>
        </p:txBody>
      </p:sp>
      <p:sp>
        <p:nvSpPr>
          <p:cNvPr id="21" name="CheckIcon2"/>
          <p:cNvSpPr/>
          <p:nvPr/>
        </p:nvSpPr>
        <p:spPr>
          <a:xfrm>
            <a:off x="5188000" y="3049080"/>
            <a:ext cx="420000" cy="420000"/>
          </a:xfrm>
          <a:prstGeom prst="ellipse">
            <a:avLst/>
          </a:prstGeom>
          <a:solidFill>
            <a:srgbClr val="5D8A68"/>
          </a:solidFill>
          <a:ln w="9525">
            <a:solidFill>
              <a:srgbClr val="47704F"/>
            </a:solidFill>
          </a:ln>
        </p:spPr>
        <p:txBody>
          <a:bodyPr/>
          <a:lstStyle/>
          <a:p>
            <a:endParaRPr lang="en-US"/>
          </a:p>
        </p:txBody>
      </p:sp>
      <p:sp>
        <p:nvSpPr>
          <p:cNvPr id="22" name="CheckText2"/>
          <p:cNvSpPr/>
          <p:nvPr/>
        </p:nvSpPr>
        <p:spPr>
          <a:xfrm>
            <a:off x="5188000" y="3125280"/>
            <a:ext cx="420000" cy="420000"/>
          </a:xfrm>
          <a:prstGeom prst="rect">
            <a:avLst/>
          </a:prstGeom>
          <a:noFill/>
          <a:ln>
            <a:noFill/>
          </a:ln>
        </p:spPr>
        <p:txBody>
          <a:bodyPr rtlCol="0" anchor="ctr"/>
          <a:lstStyle/>
          <a:p>
            <a:pPr algn="ctr">
              <a:buNone/>
            </a:pPr>
            <a:r>
              <a:rPr sz="2800" b="1">
                <a:solidFill>
                  <a:srgbClr val="FFFFFF"/>
                </a:solidFill>
                <a:latin typeface="Wingdings"/>
                <a:cs typeface="Wingdings"/>
              </a:rPr>
              <a:t>ü</a:t>
            </a:r>
          </a:p>
        </p:txBody>
      </p:sp>
      <p:sp>
        <p:nvSpPr>
          <p:cNvPr id="23" name="RightText2"/>
          <p:cNvSpPr>
            <a:spLocks noGrp="1"/>
          </p:cNvSpPr>
          <p:nvPr/>
        </p:nvSpPr>
        <p:spPr>
          <a:xfrm>
            <a:off x="5650000" y="3004320"/>
            <a:ext cx="2888000" cy="520000"/>
          </a:xfrm>
          <a:prstGeom prst="rect">
            <a:avLst/>
          </a:prstGeom>
          <a:noFill/>
          <a:ln>
            <a:noFill/>
          </a:ln>
        </p:spPr>
        <p:txBody>
          <a:bodyPr lIns="91440" tIns="45720" rIns="91440" bIns="45720" rtlCol="0" anchor="ctr"/>
          <a:lstStyle/>
          <a:p>
            <a:pPr algn="l">
              <a:buNone/>
            </a:pPr>
            <a:r>
              <a:rPr sz="1600" b="1">
                <a:solidFill>
                  <a:srgbClr val="E88A1A"/>
                </a:solidFill>
                <a:latin typeface="Segoe UI"/>
                <a:cs typeface="Segoe UI"/>
              </a:rPr>
              <a:t>Summarize</a:t>
            </a:r>
            <a:r>
              <a:rPr sz="1600">
                <a:solidFill>
                  <a:srgbClr val="1B3A4B"/>
                </a:solidFill>
                <a:latin typeface="Segoe UI"/>
                <a:cs typeface="Segoe UI"/>
              </a:rPr>
              <a:t> long emails and specs in seconds.</a:t>
            </a:r>
            <a:endParaRPr lang="en-US" sz="1600">
              <a:solidFill>
                <a:srgbClr val="1B3A4B"/>
              </a:solidFill>
              <a:latin typeface="Segoe UI"/>
              <a:cs typeface="Segoe UI"/>
            </a:endParaRPr>
          </a:p>
        </p:txBody>
      </p:sp>
      <p:sp>
        <p:nvSpPr>
          <p:cNvPr id="24" name="CheckIcon3"/>
          <p:cNvSpPr/>
          <p:nvPr/>
        </p:nvSpPr>
        <p:spPr>
          <a:xfrm>
            <a:off x="5188000" y="3796220"/>
            <a:ext cx="420000" cy="420000"/>
          </a:xfrm>
          <a:prstGeom prst="ellipse">
            <a:avLst/>
          </a:prstGeom>
          <a:solidFill>
            <a:srgbClr val="5D8A68"/>
          </a:solidFill>
          <a:ln w="9525">
            <a:solidFill>
              <a:srgbClr val="47704F"/>
            </a:solidFill>
          </a:ln>
        </p:spPr>
        <p:txBody>
          <a:bodyPr/>
          <a:lstStyle/>
          <a:p>
            <a:endParaRPr lang="en-US"/>
          </a:p>
        </p:txBody>
      </p:sp>
      <p:sp>
        <p:nvSpPr>
          <p:cNvPr id="25" name="CheckText3"/>
          <p:cNvSpPr/>
          <p:nvPr/>
        </p:nvSpPr>
        <p:spPr>
          <a:xfrm>
            <a:off x="5188000" y="3864800"/>
            <a:ext cx="420000" cy="420000"/>
          </a:xfrm>
          <a:prstGeom prst="rect">
            <a:avLst/>
          </a:prstGeom>
          <a:noFill/>
          <a:ln>
            <a:noFill/>
          </a:ln>
        </p:spPr>
        <p:txBody>
          <a:bodyPr rtlCol="0" anchor="ctr"/>
          <a:lstStyle/>
          <a:p>
            <a:pPr algn="ctr">
              <a:buNone/>
            </a:pPr>
            <a:r>
              <a:rPr sz="2800" b="1">
                <a:solidFill>
                  <a:srgbClr val="FFFFFF"/>
                </a:solidFill>
                <a:latin typeface="Wingdings"/>
                <a:cs typeface="Wingdings"/>
              </a:rPr>
              <a:t>ü</a:t>
            </a:r>
          </a:p>
        </p:txBody>
      </p:sp>
      <p:sp>
        <p:nvSpPr>
          <p:cNvPr id="26" name="RightText3"/>
          <p:cNvSpPr>
            <a:spLocks noGrp="1"/>
          </p:cNvSpPr>
          <p:nvPr/>
        </p:nvSpPr>
        <p:spPr>
          <a:xfrm>
            <a:off x="5650000" y="3759080"/>
            <a:ext cx="2888000" cy="520000"/>
          </a:xfrm>
          <a:prstGeom prst="rect">
            <a:avLst/>
          </a:prstGeom>
          <a:noFill/>
          <a:ln>
            <a:noFill/>
          </a:ln>
        </p:spPr>
        <p:txBody>
          <a:bodyPr lIns="91440" tIns="45720" rIns="91440" bIns="45720" rtlCol="0" anchor="ctr"/>
          <a:lstStyle/>
          <a:p>
            <a:pPr algn="l">
              <a:buNone/>
            </a:pPr>
            <a:r>
              <a:rPr sz="1600" b="1">
                <a:solidFill>
                  <a:srgbClr val="E88A1A"/>
                </a:solidFill>
                <a:latin typeface="Segoe UI"/>
                <a:cs typeface="Segoe UI"/>
              </a:rPr>
              <a:t>Send</a:t>
            </a:r>
            <a:r>
              <a:rPr sz="1600">
                <a:solidFill>
                  <a:srgbClr val="1B3A4B"/>
                </a:solidFill>
                <a:latin typeface="Segoe UI"/>
                <a:cs typeface="Segoe UI"/>
              </a:rPr>
              <a:t> reminders that get answers, automatically.</a:t>
            </a:r>
            <a:endParaRPr lang="en-US" sz="1600">
              <a:solidFill>
                <a:srgbClr val="1B3A4B"/>
              </a:solidFill>
              <a:latin typeface="Segoe UI"/>
              <a:cs typeface="Segoe UI"/>
            </a:endParaRPr>
          </a:p>
        </p:txBody>
      </p:sp>
      <p:sp>
        <p:nvSpPr>
          <p:cNvPr id="27" name="Arrow"/>
          <p:cNvSpPr/>
          <p:nvPr/>
        </p:nvSpPr>
        <p:spPr>
          <a:xfrm>
            <a:off x="4422000" y="2900000"/>
            <a:ext cx="310000" cy="300000"/>
          </a:xfrm>
          <a:prstGeom prst="rightArrow">
            <a:avLst/>
          </a:prstGeom>
          <a:solidFill>
            <a:schemeClr val="accent3"/>
          </a:solidFill>
          <a:ln>
            <a:no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What’s Inside: The 5 Lessons</a:t>
            </a:r>
          </a:p>
        </p:txBody>
      </p:sp>
      <p:sp>
        <p:nvSpPr>
          <p:cNvPr id="3" name="Content Placeholder 2"/>
          <p:cNvSpPr>
            <a:spLocks noGrp="1"/>
          </p:cNvSpPr>
          <p:nvPr>
            <p:ph idx="1"/>
          </p:nvPr>
        </p:nvSpPr>
        <p:spPr>
          <a:xfrm>
            <a:off x="258763" y="1358901"/>
            <a:ext cx="8809037" cy="3394472"/>
          </a:xfrm>
        </p:spPr>
        <p:txBody>
          <a:bodyPr vert="horz" lIns="91440" tIns="45720" rIns="91440" bIns="45720" rtlCol="0" anchor="t">
            <a:noAutofit/>
          </a:bodyPr>
          <a:lstStyle/>
          <a:p>
            <a:pPr marL="0" lvl="0" indent="0">
              <a:buNone/>
            </a:pPr>
            <a:r>
              <a:rPr sz="2000"/>
              <a:t>Work through them in order or </a:t>
            </a:r>
            <a:r>
              <a:rPr sz="2000" b="1"/>
              <a:t>jump straight to your biggest bottleneck</a:t>
            </a:r>
            <a:r>
              <a:rPr sz="2000"/>
              <a:t>.</a:t>
            </a:r>
            <a:endParaRPr lang="en-US" sz="2000">
              <a:cs typeface="Segoe UI"/>
            </a:endParaRPr>
          </a:p>
          <a:p>
            <a:pPr marL="0" indent="0">
              <a:buNone/>
            </a:pPr>
            <a:endParaRPr lang="en-US" sz="1800"/>
          </a:p>
          <a:p>
            <a:pPr marL="0" lvl="0" indent="0">
              <a:buNone/>
            </a:pPr>
            <a:r>
              <a:rPr sz="1800"/>
              <a:t>Each lesson takes about 10 minutes — roughly </a:t>
            </a:r>
            <a:r>
              <a:rPr sz="1800" b="1"/>
              <a:t>1 to 1.5 hours total</a:t>
            </a:r>
            <a:r>
              <a:rPr sz="1800"/>
              <a:t> for the core lessons, or about </a:t>
            </a:r>
            <a:r>
              <a:rPr sz="1800" b="1"/>
              <a:t>3 hours</a:t>
            </a:r>
            <a:r>
              <a:rPr sz="1800"/>
              <a:t> if you complete all the hands-on practice.</a:t>
            </a:r>
            <a:endParaRPr sz="1800">
              <a:cs typeface="Segoe UI"/>
            </a:endParaRPr>
          </a:p>
          <a:p>
            <a:pPr marL="0" indent="0">
              <a:buNone/>
            </a:pPr>
            <a:r>
              <a:rPr lang="en-US" sz="2000" b="1"/>
              <a:t> </a:t>
            </a:r>
            <a:r>
              <a:rPr sz="2000" b="1"/>
              <a:t>Lesson 1</a:t>
            </a:r>
            <a:r>
              <a:rPr sz="2000"/>
              <a:t> — Everyday AI Tools: The Basics</a:t>
            </a:r>
            <a:endParaRPr sz="2000">
              <a:cs typeface="Segoe UI"/>
            </a:endParaRPr>
          </a:p>
          <a:p>
            <a:pPr marL="0" indent="0">
              <a:buNone/>
            </a:pPr>
            <a:r>
              <a:rPr lang="en-US" sz="2000" b="1"/>
              <a:t> </a:t>
            </a:r>
            <a:r>
              <a:rPr sz="2000" b="1"/>
              <a:t>Lesson 2</a:t>
            </a:r>
            <a:r>
              <a:rPr sz="2000"/>
              <a:t> — Estimation &amp; Bidding with AI</a:t>
            </a:r>
            <a:endParaRPr sz="2000">
              <a:cs typeface="Segoe UI"/>
            </a:endParaRPr>
          </a:p>
          <a:p>
            <a:pPr marL="0" indent="0">
              <a:buNone/>
            </a:pPr>
            <a:r>
              <a:rPr lang="en-US" sz="2000" b="1"/>
              <a:t> </a:t>
            </a:r>
            <a:r>
              <a:rPr sz="2000" b="1"/>
              <a:t>Lesson 3</a:t>
            </a:r>
            <a:r>
              <a:rPr sz="2000"/>
              <a:t> — Job Site &amp; Operations AI</a:t>
            </a:r>
            <a:endParaRPr sz="2000">
              <a:cs typeface="Segoe UI"/>
            </a:endParaRPr>
          </a:p>
          <a:p>
            <a:pPr marL="0" indent="0">
              <a:buNone/>
            </a:pPr>
            <a:r>
              <a:rPr lang="en-US" sz="2000" b="1"/>
              <a:t> </a:t>
            </a:r>
            <a:r>
              <a:rPr sz="2000" b="1"/>
              <a:t>Lesson 4</a:t>
            </a:r>
            <a:r>
              <a:rPr sz="2000"/>
              <a:t> — Business &amp; Finance AI</a:t>
            </a:r>
            <a:endParaRPr sz="2000">
              <a:cs typeface="Segoe UI"/>
            </a:endParaRPr>
          </a:p>
          <a:p>
            <a:pPr marL="0" indent="0">
              <a:buNone/>
            </a:pPr>
            <a:r>
              <a:rPr lang="en-US" sz="2000" b="1"/>
              <a:t> </a:t>
            </a:r>
            <a:r>
              <a:rPr sz="2000" b="1"/>
              <a:t>Lesson 5</a:t>
            </a:r>
            <a:r>
              <a:rPr sz="2000"/>
              <a:t> — AI Guardrails, Privacy &amp; Safety</a:t>
            </a:r>
            <a:endParaRPr sz="2000">
              <a:cs typeface="Segoe U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Lesson 1 — Everyday AI Tools: The Basics</a:t>
            </a:r>
          </a:p>
        </p:txBody>
      </p:sp>
      <p:sp>
        <p:nvSpPr>
          <p:cNvPr id="3" name="Content Placeholder 2"/>
          <p:cNvSpPr>
            <a:spLocks noGrp="1"/>
          </p:cNvSpPr>
          <p:nvPr>
            <p:ph idx="1"/>
          </p:nvPr>
        </p:nvSpPr>
        <p:spPr>
          <a:xfrm>
            <a:off x="457200" y="1549401"/>
            <a:ext cx="8229600" cy="3394472"/>
          </a:xfrm>
        </p:spPr>
        <p:txBody>
          <a:bodyPr vert="horz" lIns="91440" tIns="45720" rIns="91440" bIns="45720" rtlCol="0" anchor="t">
            <a:normAutofit/>
          </a:bodyPr>
          <a:lstStyle/>
          <a:p>
            <a:pPr marL="0" lvl="0" indent="0">
              <a:buNone/>
            </a:pPr>
            <a:r>
              <a:t>Set up a free AI app and use it for your daily tasks:</a:t>
            </a:r>
          </a:p>
          <a:p>
            <a:pPr lvl="0">
              <a:buChar char="•"/>
            </a:pPr>
            <a:r>
              <a:t>Bids</a:t>
            </a:r>
            <a:endParaRPr>
              <a:cs typeface="Segoe UI"/>
            </a:endParaRPr>
          </a:p>
          <a:p>
            <a:pPr lvl="0">
              <a:buChar char="•"/>
            </a:pPr>
            <a:r>
              <a:t>Emails</a:t>
            </a:r>
            <a:endParaRPr>
              <a:cs typeface="Segoe UI"/>
            </a:endParaRPr>
          </a:p>
          <a:p>
            <a:pPr lvl="0">
              <a:buChar char="•"/>
            </a:pPr>
            <a:r>
              <a:t>Site notes</a:t>
            </a:r>
            <a:endParaRPr>
              <a:cs typeface="Segoe UI"/>
            </a:endParaRPr>
          </a:p>
          <a:p>
            <a:pPr lvl="0">
              <a:buChar char="•"/>
            </a:pPr>
            <a:r>
              <a:t>Marketing</a:t>
            </a:r>
            <a:endParaRPr>
              <a:cs typeface="Segoe UI"/>
            </a:endParaRPr>
          </a:p>
          <a:p>
            <a:pPr lvl="0">
              <a:buChar char="•"/>
            </a:pPr>
            <a:r>
              <a:t>Voice notes while driving between jobs</a:t>
            </a:r>
            <a:endParaRPr>
              <a:cs typeface="Segoe U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Lesson 2 — Estimation &amp; Bidding with AI</a:t>
            </a:r>
          </a:p>
        </p:txBody>
      </p:sp>
      <p:sp>
        <p:nvSpPr>
          <p:cNvPr id="3" name="Content Placeholder 2"/>
          <p:cNvSpPr>
            <a:spLocks noGrp="1"/>
          </p:cNvSpPr>
          <p:nvPr>
            <p:ph idx="1"/>
          </p:nvPr>
        </p:nvSpPr>
        <p:spPr>
          <a:xfrm>
            <a:off x="457200" y="1573214"/>
            <a:ext cx="8229600" cy="3394472"/>
          </a:xfrm>
        </p:spPr>
        <p:txBody>
          <a:bodyPr vert="horz" lIns="91440" tIns="45720" rIns="91440" bIns="45720" rtlCol="0" anchor="t">
            <a:normAutofit/>
          </a:bodyPr>
          <a:lstStyle/>
          <a:p>
            <a:pPr lvl="0">
              <a:buChar char="•"/>
            </a:pPr>
            <a:r>
              <a:t>Rough-in quantities from real job facts</a:t>
            </a:r>
            <a:endParaRPr lang="en-US">
              <a:cs typeface="Segoe UI"/>
            </a:endParaRPr>
          </a:p>
          <a:p>
            <a:pPr lvl="0">
              <a:buChar char="•"/>
            </a:pPr>
            <a:r>
              <a:t>Turn a scope paragraph into a clean line-item bid</a:t>
            </a:r>
            <a:endParaRPr>
              <a:cs typeface="Segoe UI"/>
            </a:endParaRPr>
          </a:p>
          <a:p>
            <a:pPr lvl="0">
              <a:buChar char="•"/>
            </a:pPr>
            <a:r>
              <a:t>Draft proposals without starting from zero</a:t>
            </a:r>
            <a:endParaRPr>
              <a:cs typeface="Segoe UI"/>
            </a:endParaRPr>
          </a:p>
          <a:p>
            <a:pPr marL="1612900" lvl="0">
              <a:buChar char="•"/>
            </a:pPr>
            <a:r>
              <a:rPr sz="2000" b="1"/>
              <a:t>AI builds the skeleton; you price, check, and own the number.</a:t>
            </a:r>
            <a:endParaRPr sz="2000" b="1">
              <a:cs typeface="Segoe U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Lesson 3 — Job Site &amp; Operations AI</a:t>
            </a:r>
          </a:p>
        </p:txBody>
      </p:sp>
      <p:sp>
        <p:nvSpPr>
          <p:cNvPr id="3" name="Content Placeholder 2"/>
          <p:cNvSpPr>
            <a:spLocks noGrp="1"/>
          </p:cNvSpPr>
          <p:nvPr>
            <p:ph idx="1"/>
          </p:nvPr>
        </p:nvSpPr>
        <p:spPr>
          <a:xfrm>
            <a:off x="457200" y="1731964"/>
            <a:ext cx="8229600" cy="3394472"/>
          </a:xfrm>
        </p:spPr>
        <p:txBody>
          <a:bodyPr vert="horz" lIns="91440" tIns="45720" rIns="91440" bIns="45720" rtlCol="0" anchor="t">
            <a:normAutofit/>
          </a:bodyPr>
          <a:lstStyle/>
          <a:p>
            <a:pPr lvl="0">
              <a:buChar char="•"/>
            </a:pPr>
            <a:r>
              <a:t>Clean daily logs</a:t>
            </a:r>
            <a:endParaRPr lang="en-US"/>
          </a:p>
          <a:p>
            <a:pPr lvl="0">
              <a:buChar char="•"/>
            </a:pPr>
            <a:r>
              <a:t>Draft pour and crew plans</a:t>
            </a:r>
            <a:endParaRPr>
              <a:cs typeface="Segoe UI"/>
            </a:endParaRPr>
          </a:p>
          <a:p>
            <a:pPr lvl="0">
              <a:buChar char="•"/>
            </a:pPr>
            <a:r>
              <a:t>Turn job photos into QA and safety records</a:t>
            </a:r>
            <a:endParaRPr>
              <a:cs typeface="Segoe UI"/>
            </a:endParaRPr>
          </a:p>
          <a:p>
            <a:pPr lvl="0">
              <a:buChar char="•"/>
            </a:pPr>
            <a:r>
              <a:t>Run a 60-second morning check so weather, orders, and inspectors </a:t>
            </a:r>
            <a:r>
              <a:rPr b="1"/>
              <a:t>never catch you off guard</a:t>
            </a:r>
            <a:endParaRPr b="1">
              <a:cs typeface="Segoe U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Lesson 4 — Business &amp; Finance AI</a:t>
            </a:r>
          </a:p>
        </p:txBody>
      </p:sp>
      <p:sp>
        <p:nvSpPr>
          <p:cNvPr id="3" name="Content Placeholder 2"/>
          <p:cNvSpPr>
            <a:spLocks noGrp="1"/>
          </p:cNvSpPr>
          <p:nvPr>
            <p:ph idx="1"/>
          </p:nvPr>
        </p:nvSpPr>
        <p:spPr>
          <a:xfrm>
            <a:off x="457200" y="1739901"/>
            <a:ext cx="8229600" cy="3394472"/>
          </a:xfrm>
        </p:spPr>
        <p:txBody>
          <a:bodyPr vert="horz" lIns="91440" tIns="45720" rIns="91440" bIns="45720" rtlCol="0" anchor="t">
            <a:normAutofit/>
          </a:bodyPr>
          <a:lstStyle/>
          <a:p>
            <a:pPr lvl="0">
              <a:buChar char="•"/>
            </a:pPr>
            <a:r>
              <a:t>Get invoices paid faster</a:t>
            </a:r>
            <a:endParaRPr lang="en-US"/>
          </a:p>
          <a:p>
            <a:pPr lvl="0">
              <a:buChar char="•"/>
            </a:pPr>
            <a:r>
              <a:t>Categorize a month of expenses in minutes</a:t>
            </a:r>
            <a:endParaRPr>
              <a:cs typeface="Segoe UI"/>
            </a:endParaRPr>
          </a:p>
          <a:p>
            <a:pPr lvl="0">
              <a:buChar char="•"/>
            </a:pPr>
            <a:r>
              <a:t>Run an honest cash-flow “runway” check</a:t>
            </a:r>
            <a:endParaRPr>
              <a:cs typeface="Segoe UI"/>
            </a:endParaRPr>
          </a:p>
          <a:p>
            <a:pPr lvl="0">
              <a:buChar char="•"/>
            </a:pPr>
            <a:r>
              <a:t>Understand your numbers</a:t>
            </a:r>
            <a:endParaRPr>
              <a:cs typeface="Segoe UI"/>
            </a:endParaRPr>
          </a:p>
          <a:p>
            <a:pPr marL="0" lvl="0" indent="0">
              <a:buNone/>
            </a:pPr>
            <a:r>
              <a:t>Plus: </a:t>
            </a:r>
            <a:r>
              <a:rPr b="1"/>
              <a:t>job ads and day-one onboarding sheets</a:t>
            </a:r>
            <a:r>
              <a:t> that attract top-tier finishers.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Lesson 5 — AI Guardrails, Privacy &amp; Safety</a:t>
            </a:r>
          </a:p>
        </p:txBody>
      </p:sp>
      <p:sp>
        <p:nvSpPr>
          <p:cNvPr id="3" name="Content Placeholder 2"/>
          <p:cNvSpPr>
            <a:spLocks noGrp="1"/>
          </p:cNvSpPr>
          <p:nvPr>
            <p:ph idx="1"/>
          </p:nvPr>
        </p:nvSpPr>
        <p:spPr>
          <a:xfrm>
            <a:off x="457200" y="1890714"/>
            <a:ext cx="8229600" cy="3394472"/>
          </a:xfrm>
        </p:spPr>
        <p:txBody>
          <a:bodyPr vert="horz" lIns="91440" tIns="45720" rIns="91440" bIns="45720" rtlCol="0" anchor="t">
            <a:normAutofit/>
          </a:bodyPr>
          <a:lstStyle/>
          <a:p>
            <a:pPr marL="0" lvl="0" indent="0">
              <a:buNone/>
            </a:pPr>
            <a:r>
              <a:t>Protect your business:</a:t>
            </a:r>
            <a:endParaRPr lang="en-US">
              <a:cs typeface="Segoe UI"/>
            </a:endParaRPr>
          </a:p>
          <a:p>
            <a:pPr lvl="0">
              <a:buChar char="•"/>
            </a:pPr>
            <a:r>
              <a:t>What </a:t>
            </a:r>
            <a:r>
              <a:rPr b="1"/>
              <a:t>never</a:t>
            </a:r>
            <a:r>
              <a:t> to paste into an AI tool</a:t>
            </a:r>
            <a:endParaRPr>
              <a:cs typeface="Segoe UI"/>
            </a:endParaRPr>
          </a:p>
          <a:p>
            <a:pPr lvl="0">
              <a:buChar char="•"/>
            </a:pPr>
            <a:r>
              <a:t>How to double-check output</a:t>
            </a:r>
            <a:endParaRPr>
              <a:cs typeface="Segoe UI"/>
            </a:endParaRPr>
          </a:p>
          <a:p>
            <a:pPr lvl="0">
              <a:buChar char="•"/>
            </a:pPr>
            <a:r>
              <a:t>How to set simple, clear rules for your crew</a:t>
            </a:r>
            <a:endParaRPr>
              <a:cs typeface="Segoe U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Do I Have to Go in Order?</a:t>
            </a:r>
          </a:p>
        </p:txBody>
      </p:sp>
      <p:sp>
        <p:nvSpPr>
          <p:cNvPr id="3" name="Content Placeholder 2"/>
          <p:cNvSpPr>
            <a:spLocks noGrp="1"/>
          </p:cNvSpPr>
          <p:nvPr>
            <p:ph idx="1"/>
          </p:nvPr>
        </p:nvSpPr>
        <p:spPr>
          <a:xfrm>
            <a:off x="457200" y="1962151"/>
            <a:ext cx="8229600" cy="3394472"/>
          </a:xfrm>
        </p:spPr>
        <p:txBody>
          <a:bodyPr vert="horz" lIns="91440" tIns="45720" rIns="91440" bIns="45720" rtlCol="0" anchor="t">
            <a:normAutofit/>
          </a:bodyPr>
          <a:lstStyle/>
          <a:p>
            <a:pPr marL="0" lvl="0" indent="0">
              <a:buNone/>
            </a:pPr>
            <a:r>
              <a:rPr b="1"/>
              <a:t>No. Every lesson stands on its own.</a:t>
            </a:r>
          </a:p>
          <a:p>
            <a:pPr lvl="0">
              <a:buChar char="•"/>
            </a:pPr>
            <a:r>
              <a:t>Estimating is your pain point? </a:t>
            </a:r>
            <a:r>
              <a:rPr b="1"/>
              <a:t>Jump to Lesson 2.</a:t>
            </a:r>
            <a:endParaRPr b="1">
              <a:cs typeface="Segoe UI"/>
            </a:endParaRPr>
          </a:p>
          <a:p>
            <a:pPr lvl="0">
              <a:buChar char="•"/>
            </a:pPr>
            <a:r>
              <a:t>Getting paid is the issue? </a:t>
            </a:r>
            <a:r>
              <a:rPr b="1"/>
              <a:t>Start at Lesson 4.</a:t>
            </a:r>
            <a:endParaRPr b="1">
              <a:cs typeface="Segoe U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How Each Lesson Works</a:t>
            </a:r>
          </a:p>
        </p:txBody>
      </p:sp>
      <p:sp>
        <p:nvSpPr>
          <p:cNvPr id="3" name="Content Placeholder 2"/>
          <p:cNvSpPr>
            <a:spLocks noGrp="1"/>
          </p:cNvSpPr>
          <p:nvPr>
            <p:ph idx="1"/>
          </p:nvPr>
        </p:nvSpPr>
        <p:spPr>
          <a:xfrm>
            <a:off x="306388" y="1438276"/>
            <a:ext cx="8491537" cy="3394472"/>
          </a:xfrm>
        </p:spPr>
        <p:txBody>
          <a:bodyPr vert="horz" lIns="91440" tIns="45720" rIns="91440" bIns="45720" rtlCol="0" anchor="t">
            <a:noAutofit/>
          </a:bodyPr>
          <a:lstStyle/>
          <a:p>
            <a:pPr marL="0" lvl="0" indent="0">
              <a:buNone/>
            </a:pPr>
            <a:r>
              <a:rPr sz="2000"/>
              <a:t>Every lesson follows a consistent rhythm:</a:t>
            </a:r>
            <a:endParaRPr lang="en-US" sz="2000">
              <a:cs typeface="Segoe UI"/>
            </a:endParaRPr>
          </a:p>
          <a:p>
            <a:pPr marL="342900" lvl="0" indent="-342900">
              <a:buAutoNum type="arabicPeriod"/>
            </a:pPr>
            <a:r>
              <a:rPr sz="1800" b="1"/>
              <a:t>What you’ll learn</a:t>
            </a:r>
            <a:r>
              <a:rPr sz="1800"/>
              <a:t> — the exact skills, stated right up front</a:t>
            </a:r>
            <a:endParaRPr sz="1800">
              <a:cs typeface="Segoe UI"/>
            </a:endParaRPr>
          </a:p>
          <a:p>
            <a:pPr marL="342900" lvl="0" indent="-342900">
              <a:buAutoNum type="arabicPeriod"/>
            </a:pPr>
            <a:r>
              <a:rPr sz="1800" b="1"/>
              <a:t>Short, </a:t>
            </a:r>
            <a:r>
              <a:rPr lang="en-US" sz="1800" b="1"/>
              <a:t>direct</a:t>
            </a:r>
            <a:r>
              <a:rPr sz="1800" b="1"/>
              <a:t> segments</a:t>
            </a:r>
            <a:r>
              <a:rPr sz="1800"/>
              <a:t> — built entirely around real-world concrete jobs</a:t>
            </a:r>
            <a:endParaRPr sz="1800">
              <a:cs typeface="Segoe UI"/>
            </a:endParaRPr>
          </a:p>
          <a:p>
            <a:pPr marL="342900" lvl="0" indent="-342900">
              <a:buAutoNum type="arabicPeriod"/>
            </a:pPr>
            <a:r>
              <a:rPr sz="1800" b="1"/>
              <a:t>Copy-paste prompts</a:t>
            </a:r>
            <a:r>
              <a:rPr sz="1800"/>
              <a:t> — exact wording in a shaded box; paste into any free AI app</a:t>
            </a:r>
            <a:endParaRPr sz="1800">
              <a:cs typeface="Segoe UI"/>
            </a:endParaRPr>
          </a:p>
          <a:p>
            <a:pPr>
              <a:buAutoNum type="arabicPeriod"/>
            </a:pPr>
            <a:r>
              <a:rPr sz="1800" b="1"/>
              <a:t>Try it yourself</a:t>
            </a:r>
            <a:r>
              <a:rPr sz="1800"/>
              <a:t> — a </a:t>
            </a:r>
            <a:r>
              <a:rPr lang="en-US" sz="1800"/>
              <a:t>2 to 7-minute</a:t>
            </a:r>
            <a:r>
              <a:rPr sz="1800"/>
              <a:t> exercise using an actual job from your week</a:t>
            </a:r>
            <a:endParaRPr sz="1800">
              <a:cs typeface="Segoe UI"/>
            </a:endParaRPr>
          </a:p>
          <a:p>
            <a:pPr marL="342900" lvl="0" indent="-342900">
              <a:buAutoNum type="arabicPeriod"/>
            </a:pPr>
            <a:r>
              <a:rPr sz="1800" b="1"/>
              <a:t>Checklist</a:t>
            </a:r>
            <a:r>
              <a:rPr sz="1800"/>
              <a:t> — clear criteria for what “done” looks like</a:t>
            </a:r>
            <a:endParaRPr sz="1800">
              <a:cs typeface="Segoe UI"/>
            </a:endParaRPr>
          </a:p>
          <a:p>
            <a:pPr marL="342900" lvl="0" indent="-342900">
              <a:buAutoNum type="arabicPeriod"/>
            </a:pPr>
            <a:r>
              <a:rPr sz="1800" b="1"/>
              <a:t>Quick reference card</a:t>
            </a:r>
            <a:r>
              <a:rPr sz="1800"/>
              <a:t> — a one-page summary to print or keep handy on your phone</a:t>
            </a:r>
            <a:endParaRPr sz="1800">
              <a:cs typeface="Segoe U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a:t>
            </a:r>
            <a:r>
              <a:rPr lang="en-US"/>
              <a:t>Bottom Line</a:t>
            </a:r>
            <a:endParaRPr/>
          </a:p>
        </p:txBody>
      </p:sp>
      <p:sp>
        <p:nvSpPr>
          <p:cNvPr id="3" name="Content Placeholder 2"/>
          <p:cNvSpPr>
            <a:spLocks noGrp="1"/>
          </p:cNvSpPr>
          <p:nvPr>
            <p:ph idx="1"/>
          </p:nvPr>
        </p:nvSpPr>
        <p:spPr>
          <a:xfrm>
            <a:off x="457200" y="1866901"/>
            <a:ext cx="8229600" cy="3394472"/>
          </a:xfrm>
        </p:spPr>
        <p:txBody>
          <a:bodyPr vert="horz" lIns="91440" tIns="45720" rIns="91440" bIns="45720" rtlCol="0" anchor="t">
            <a:normAutofit/>
          </a:bodyPr>
          <a:lstStyle/>
          <a:p>
            <a:pPr marL="0" lvl="0" indent="0">
              <a:buNone/>
            </a:pPr>
            <a:r>
              <a:t>Every skill in this module is </a:t>
            </a:r>
            <a:r>
              <a:rPr b="1"/>
              <a:t>usable the exact same day</a:t>
            </a:r>
            <a:r>
              <a:t>.</a:t>
            </a:r>
          </a:p>
          <a:p>
            <a:pPr marL="1270000" lvl="0" indent="0">
              <a:buNone/>
            </a:pPr>
            <a:r>
              <a:rPr sz="2000"/>
              <a:t>By the end of your very first lesson, you’ll send at least one real email, draft, or post written with AI’s help.</a:t>
            </a:r>
            <a:endParaRPr sz="2000">
              <a:cs typeface="Segoe U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 Few Notes Before You Start</a:t>
            </a:r>
          </a:p>
        </p:txBody>
      </p:sp>
      <p:sp>
        <p:nvSpPr>
          <p:cNvPr id="3" name="Content Placeholder 2"/>
          <p:cNvSpPr>
            <a:spLocks noGrp="1"/>
          </p:cNvSpPr>
          <p:nvPr>
            <p:ph idx="1"/>
          </p:nvPr>
        </p:nvSpPr>
        <p:spPr>
          <a:xfrm>
            <a:off x="457200" y="1517651"/>
            <a:ext cx="8229600" cy="3394472"/>
          </a:xfrm>
        </p:spPr>
        <p:txBody>
          <a:bodyPr vert="horz" lIns="91440" tIns="45720" rIns="91440" bIns="45720" rtlCol="0" anchor="t">
            <a:normAutofit/>
          </a:bodyPr>
          <a:lstStyle/>
          <a:p>
            <a:pPr marL="0" lvl="0" indent="0">
              <a:buNone/>
            </a:pPr>
            <a:r>
              <a:rPr sz="2000" b="1"/>
              <a:t>AI drafts, you decide.</a:t>
            </a:r>
            <a:r>
              <a:rPr sz="2000"/>
              <a:t> These tools are unmatched for speed, structure, and first drafts. They don’t know your local market pricing, your specific crew, or your unique job sites. Every lesson shows you exactly where to check the work.</a:t>
            </a:r>
            <a:endParaRPr lang="en-US" sz="2000">
              <a:cs typeface="Segoe UI"/>
            </a:endParaRPr>
          </a:p>
          <a:p>
            <a:pPr marL="0" lvl="0" indent="0">
              <a:buNone/>
            </a:pPr>
            <a:r>
              <a:rPr sz="2000" b="1"/>
              <a:t>It’s a method, not a magic button.</a:t>
            </a:r>
            <a:r>
              <a:rPr sz="2000"/>
              <a:t> AI won’t run your pours for you. It simply strips the busywork off your plate so you can focus on the profitable work.</a:t>
            </a:r>
            <a:endParaRPr sz="2000">
              <a:cs typeface="Segoe UI"/>
            </a:endParaRPr>
          </a:p>
          <a:p>
            <a:pPr marL="0" lvl="0" indent="0">
              <a:buNone/>
            </a:pPr>
            <a:r>
              <a:rPr sz="2000" b="1"/>
              <a:t>Your data stays yours.</a:t>
            </a:r>
            <a:r>
              <a:rPr sz="2000"/>
              <a:t> Lesson 5 covers exactly what to keep out of public AI tools to protect your clients, your crew, and your pricing margins.</a:t>
            </a:r>
            <a:endParaRPr sz="2000">
              <a:cs typeface="Segoe U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Let’s Go</a:t>
            </a:r>
          </a:p>
        </p:txBody>
      </p:sp>
      <p:sp>
        <p:nvSpPr>
          <p:cNvPr id="3" name="Content Placeholder 2"/>
          <p:cNvSpPr>
            <a:spLocks noGrp="1"/>
          </p:cNvSpPr>
          <p:nvPr>
            <p:ph idx="1"/>
          </p:nvPr>
        </p:nvSpPr>
        <p:spPr>
          <a:xfrm>
            <a:off x="457200" y="1906589"/>
            <a:ext cx="8229600" cy="3394472"/>
          </a:xfrm>
        </p:spPr>
        <p:txBody>
          <a:bodyPr vert="horz" lIns="91440" tIns="45720" rIns="91440" bIns="45720" rtlCol="0" anchor="t">
            <a:normAutofit/>
          </a:bodyPr>
          <a:lstStyle/>
          <a:p>
            <a:pPr marL="0" lvl="0" indent="0">
              <a:buNone/>
            </a:pPr>
            <a:r>
              <a:t>You already know how to pour.</a:t>
            </a:r>
          </a:p>
          <a:p>
            <a:pPr marL="0" lvl="0" indent="0">
              <a:buNone/>
            </a:pPr>
            <a:r>
              <a:rPr b="1"/>
              <a:t>Let’s make the office side just as smooth as your best finish.</a:t>
            </a:r>
          </a:p>
          <a:p>
            <a:pPr marL="0" indent="0">
              <a:buNone/>
            </a:pPr>
            <a:endParaRPr lang="en-US" b="1"/>
          </a:p>
          <a:p>
            <a:pPr marL="0" lvl="0" indent="0">
              <a:buNone/>
            </a:pPr>
            <a:r>
              <a:t>Start with </a:t>
            </a:r>
            <a:r>
              <a:rPr b="1"/>
              <a:t>Lesson 1: Everyday AI Tools — The Basics.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B3A4B"/>
      </a:dk2>
      <a:lt2>
        <a:srgbClr val="F5F3EF"/>
      </a:lt2>
      <a:accent1>
        <a:srgbClr val="E88A1A"/>
      </a:accent1>
      <a:accent2>
        <a:srgbClr val="4F7CAC"/>
      </a:accent2>
      <a:accent3>
        <a:srgbClr val="5D8A68"/>
      </a:accent3>
      <a:accent4>
        <a:srgbClr val="9B6B43"/>
      </a:accent4>
      <a:accent5>
        <a:srgbClr val="7A8B9A"/>
      </a:accent5>
      <a:accent6>
        <a:srgbClr val="C2563E"/>
      </a:accent6>
      <a:hlink>
        <a:srgbClr val="1B3A4B"/>
      </a:hlink>
      <a:folHlink>
        <a:srgbClr val="7A8B9A"/>
      </a:folHlink>
    </a:clrScheme>
    <a:fontScheme name="Office">
      <a:majorFont>
        <a:latin typeface="Segoe UI"/>
        <a:ea typeface=""/>
        <a:cs typeface=""/>
        <a:font script="Jpan" typeface="ï¼­ï¼³ ï¼°ã‚´ã‚·ãƒƒã‚¯"/>
        <a:font script="Hang" typeface="ë§‘ì€ ê³ ë”•"/>
        <a:font script="Hans" typeface="å®‹ä½“"/>
        <a:font script="Hant" typeface="æ–°ç´°æ˜Žé«”"/>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ï¼­ï¼³ ï¼°ã‚´ã‚·ãƒƒã‚¯"/>
        <a:font script="Hang" typeface="ë§‘ì€ ê³ ë”•"/>
        <a:font script="Hans" typeface="å®‹ä½“"/>
        <a:font script="Hant" typeface="æ–°ç´°æ˜Žé«”"/>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15</Slides>
  <Notes>15</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AI for Concrete Contractors</vt:lpstr>
      <vt:lpstr>Who This Is For</vt:lpstr>
      <vt:lpstr>What This Is NOT</vt:lpstr>
      <vt:lpstr>Your Daily Operations: Before and After AI</vt:lpstr>
      <vt:lpstr>What’s Inside: The 5 Lessons</vt:lpstr>
      <vt:lpstr>Lesson 1 — Everyday AI Tools: The Basics</vt:lpstr>
      <vt:lpstr>Lesson 2 — Estimation &amp; Bidding with AI</vt:lpstr>
      <vt:lpstr>Lesson 3 — Job Site &amp; Operations AI</vt:lpstr>
      <vt:lpstr>Lesson 4 — Business &amp; Finance AI</vt:lpstr>
      <vt:lpstr>Lesson 5 — AI Guardrails, Privacy &amp; Safety</vt:lpstr>
      <vt:lpstr>Do I Have to Go in Order?</vt:lpstr>
      <vt:lpstr>How Each Lesson Works</vt:lpstr>
      <vt:lpstr>The Bottom Line</vt:lpstr>
      <vt:lpstr>A Few Notes Before You Start</vt:lpstr>
      <vt:lpstr>Let’s Go</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Concrete Contractors</dc:title>
  <dc:creator/>
  <cp:keywords/>
  <cp:revision>10</cp:revision>
  <dcterms:created xsi:type="dcterms:W3CDTF">2026-08-13T19:32:12Z</dcterms:created>
  <dcterms:modified xsi:type="dcterms:W3CDTF">2026-08-14T17:44:02Z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Welcome Lesson</vt:lpwstr>
  </property>
</Properties>
</file>